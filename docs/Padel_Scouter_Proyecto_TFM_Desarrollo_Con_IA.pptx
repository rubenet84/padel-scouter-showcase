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Mokoto" panose="020B0604020202020204" charset="0"/>
      <p:regular r:id="rId23"/>
    </p:embeddedFont>
    <p:embeddedFont>
      <p:font typeface="Poppins" panose="020B0502040204020203" pitchFamily="2" charset="0"/>
      <p:regular r:id="rId24"/>
    </p:embeddedFont>
    <p:embeddedFont>
      <p:font typeface="Poppins Medium" panose="020B0502040204020203" pitchFamily="2" charset="0"/>
      <p:regular r:id="rId25"/>
    </p:embeddedFont>
    <p:embeddedFont>
      <p:font typeface="Tomorrow" panose="020B0604020202020204" charset="0"/>
      <p:regular r:id="rId26"/>
    </p:embeddedFont>
    <p:embeddedFont>
      <p:font typeface="Tomorrow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48" y="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adel-scouter-production.up.railway.ap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5.png"/><Relationship Id="rId7" Type="http://schemas.openxmlformats.org/officeDocument/2006/relationships/image" Target="../media/image1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36.jpeg"/><Relationship Id="rId7" Type="http://schemas.openxmlformats.org/officeDocument/2006/relationships/image" Target="../media/image39.jpeg"/><Relationship Id="rId12" Type="http://schemas.openxmlformats.org/officeDocument/2006/relationships/image" Target="../media/image28.sv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27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7.jpeg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13" Type="http://schemas.openxmlformats.org/officeDocument/2006/relationships/image" Target="../media/image53.png"/><Relationship Id="rId3" Type="http://schemas.openxmlformats.org/officeDocument/2006/relationships/image" Target="../media/image4.sv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2" Type="http://schemas.openxmlformats.org/officeDocument/2006/relationships/image" Target="../media/image3.png"/><Relationship Id="rId16" Type="http://schemas.openxmlformats.org/officeDocument/2006/relationships/image" Target="../media/image5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4.svg"/><Relationship Id="rId15" Type="http://schemas.openxmlformats.org/officeDocument/2006/relationships/image" Target="../media/image55.png"/><Relationship Id="rId10" Type="http://schemas.openxmlformats.org/officeDocument/2006/relationships/image" Target="../media/image50.svg"/><Relationship Id="rId4" Type="http://schemas.openxmlformats.org/officeDocument/2006/relationships/image" Target="../media/image43.png"/><Relationship Id="rId9" Type="http://schemas.openxmlformats.org/officeDocument/2006/relationships/image" Target="../media/image49.png"/><Relationship Id="rId14" Type="http://schemas.openxmlformats.org/officeDocument/2006/relationships/image" Target="../media/image5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62.png"/><Relationship Id="rId4" Type="http://schemas.openxmlformats.org/officeDocument/2006/relationships/image" Target="../media/image3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8.png"/><Relationship Id="rId7" Type="http://schemas.openxmlformats.org/officeDocument/2006/relationships/image" Target="../media/image11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mailto:Ruben829@msn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adel-scouter-production.up.railway.app" TargetMode="External"/><Relationship Id="rId5" Type="http://schemas.openxmlformats.org/officeDocument/2006/relationships/hyperlink" Target="https://github.com/rubenet84/padel-scouter" TargetMode="External"/><Relationship Id="rId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07553" y="3743843"/>
            <a:ext cx="15472893" cy="2065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70"/>
              </a:lnSpc>
            </a:pPr>
            <a:r>
              <a:rPr lang="en-US" sz="11978" spc="-1293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PADEL SCOUTER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849934"/>
            <a:ext cx="16230600" cy="257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5"/>
              </a:lnSpc>
            </a:pPr>
            <a:r>
              <a:rPr lang="en-US" sz="2024" spc="4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PLATAFORMA WEB INTELIGENTE DE ANÁLISIS DE JUGADORES DE PÁDEL</a:t>
            </a:r>
          </a:p>
          <a:p>
            <a:pPr marL="0" lvl="0" indent="0" algn="ctr">
              <a:lnSpc>
                <a:spcPts val="2995"/>
              </a:lnSpc>
            </a:pPr>
            <a:endParaRPr lang="en-US" sz="2024" spc="469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>
              <a:lnSpc>
                <a:spcPts val="2995"/>
              </a:lnSpc>
            </a:pPr>
            <a:r>
              <a:rPr lang="en-US" sz="2024" spc="4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MEDIANTE IA Y COMPUTACIÓN AVANZADA</a:t>
            </a:r>
          </a:p>
          <a:p>
            <a:pPr marL="0" lvl="0" indent="0" algn="ctr">
              <a:lnSpc>
                <a:spcPts val="2995"/>
              </a:lnSpc>
            </a:pPr>
            <a:endParaRPr lang="en-US" sz="2024" spc="469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>
              <a:lnSpc>
                <a:spcPts val="2995"/>
              </a:lnSpc>
            </a:pPr>
            <a:endParaRPr lang="en-US" sz="2024" spc="469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ctr">
              <a:lnSpc>
                <a:spcPts val="2995"/>
              </a:lnSpc>
            </a:pPr>
            <a:r>
              <a:rPr lang="en-US" sz="2024" spc="469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TFM 2026 — RUBEN REBOLLO RUA</a:t>
            </a:r>
            <a:r>
              <a:rPr lang="en-US" sz="2024" spc="469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024" spc="469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|</a:t>
            </a:r>
            <a:r>
              <a:rPr lang="en-US" sz="2024" spc="46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lang="en-US" sz="2024" u="sng" spc="46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  <a:hlinkClick r:id="rId3" tooltip="https://padel-scouter-production.up.railway.app"/>
              </a:rPr>
              <a:t>VER EN PRODUCCIÓN</a:t>
            </a:r>
          </a:p>
          <a:p>
            <a:pPr marL="0" lvl="0" indent="0" algn="ctr">
              <a:lnSpc>
                <a:spcPts val="2995"/>
              </a:lnSpc>
            </a:pPr>
            <a:endParaRPr lang="en-US" sz="2024" u="sng" spc="469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00BF63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  <a:hlinkClick r:id="rId3" tooltip="https://padel-scouter-production.up.railway.app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1053870" y="-6106154"/>
            <a:ext cx="11707813" cy="11796621"/>
          </a:xfrm>
          <a:custGeom>
            <a:avLst/>
            <a:gdLst/>
            <a:ahLst/>
            <a:cxnLst/>
            <a:rect l="l" t="t" r="r" b="b"/>
            <a:pathLst>
              <a:path w="11707813" h="11796621">
                <a:moveTo>
                  <a:pt x="0" y="0"/>
                </a:moveTo>
                <a:lnTo>
                  <a:pt x="11707813" y="0"/>
                </a:lnTo>
                <a:lnTo>
                  <a:pt x="11707813" y="11796621"/>
                </a:lnTo>
                <a:lnTo>
                  <a:pt x="0" y="11796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33790" y="7347623"/>
            <a:ext cx="7772861" cy="6472674"/>
          </a:xfrm>
          <a:custGeom>
            <a:avLst/>
            <a:gdLst/>
            <a:ahLst/>
            <a:cxnLst/>
            <a:rect l="l" t="t" r="r" b="b"/>
            <a:pathLst>
              <a:path w="7772861" h="6472674">
                <a:moveTo>
                  <a:pt x="0" y="0"/>
                </a:moveTo>
                <a:lnTo>
                  <a:pt x="7772861" y="0"/>
                </a:lnTo>
                <a:lnTo>
                  <a:pt x="7772861" y="6472674"/>
                </a:lnTo>
                <a:lnTo>
                  <a:pt x="0" y="6472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85660" y="1992891"/>
            <a:ext cx="3321297" cy="4884260"/>
          </a:xfrm>
          <a:custGeom>
            <a:avLst/>
            <a:gdLst/>
            <a:ahLst/>
            <a:cxnLst/>
            <a:rect l="l" t="t" r="r" b="b"/>
            <a:pathLst>
              <a:path w="3321297" h="4884260">
                <a:moveTo>
                  <a:pt x="0" y="0"/>
                </a:moveTo>
                <a:lnTo>
                  <a:pt x="3321297" y="0"/>
                </a:lnTo>
                <a:lnTo>
                  <a:pt x="3321297" y="4884260"/>
                </a:lnTo>
                <a:lnTo>
                  <a:pt x="0" y="488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98336" y="2661005"/>
            <a:ext cx="5091327" cy="3233634"/>
          </a:xfrm>
          <a:custGeom>
            <a:avLst/>
            <a:gdLst/>
            <a:ahLst/>
            <a:cxnLst/>
            <a:rect l="l" t="t" r="r" b="b"/>
            <a:pathLst>
              <a:path w="5091327" h="3233634">
                <a:moveTo>
                  <a:pt x="0" y="0"/>
                </a:moveTo>
                <a:lnTo>
                  <a:pt x="5091328" y="0"/>
                </a:lnTo>
                <a:lnTo>
                  <a:pt x="5091328" y="3233633"/>
                </a:lnTo>
                <a:lnTo>
                  <a:pt x="0" y="3233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83" b="-38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4927" y="8255902"/>
            <a:ext cx="169100" cy="160645"/>
          </a:xfrm>
          <a:custGeom>
            <a:avLst/>
            <a:gdLst/>
            <a:ahLst/>
            <a:cxnLst/>
            <a:rect l="l" t="t" r="r" b="b"/>
            <a:pathLst>
              <a:path w="169100" h="160645">
                <a:moveTo>
                  <a:pt x="0" y="0"/>
                </a:moveTo>
                <a:lnTo>
                  <a:pt x="169100" y="0"/>
                </a:lnTo>
                <a:lnTo>
                  <a:pt x="169100" y="160645"/>
                </a:lnTo>
                <a:lnTo>
                  <a:pt x="0" y="160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78211" y="8537449"/>
            <a:ext cx="169100" cy="160645"/>
          </a:xfrm>
          <a:custGeom>
            <a:avLst/>
            <a:gdLst/>
            <a:ahLst/>
            <a:cxnLst/>
            <a:rect l="l" t="t" r="r" b="b"/>
            <a:pathLst>
              <a:path w="169100" h="160645">
                <a:moveTo>
                  <a:pt x="0" y="0"/>
                </a:moveTo>
                <a:lnTo>
                  <a:pt x="169100" y="0"/>
                </a:lnTo>
                <a:lnTo>
                  <a:pt x="169100" y="160645"/>
                </a:lnTo>
                <a:lnTo>
                  <a:pt x="0" y="160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8211" y="9362022"/>
            <a:ext cx="169100" cy="160645"/>
          </a:xfrm>
          <a:custGeom>
            <a:avLst/>
            <a:gdLst/>
            <a:ahLst/>
            <a:cxnLst/>
            <a:rect l="l" t="t" r="r" b="b"/>
            <a:pathLst>
              <a:path w="169100" h="160645">
                <a:moveTo>
                  <a:pt x="0" y="0"/>
                </a:moveTo>
                <a:lnTo>
                  <a:pt x="169100" y="0"/>
                </a:lnTo>
                <a:lnTo>
                  <a:pt x="169100" y="160645"/>
                </a:lnTo>
                <a:lnTo>
                  <a:pt x="0" y="160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4927" y="8818996"/>
            <a:ext cx="169100" cy="160645"/>
          </a:xfrm>
          <a:custGeom>
            <a:avLst/>
            <a:gdLst/>
            <a:ahLst/>
            <a:cxnLst/>
            <a:rect l="l" t="t" r="r" b="b"/>
            <a:pathLst>
              <a:path w="169100" h="160645">
                <a:moveTo>
                  <a:pt x="0" y="0"/>
                </a:moveTo>
                <a:lnTo>
                  <a:pt x="169100" y="0"/>
                </a:lnTo>
                <a:lnTo>
                  <a:pt x="169100" y="160645"/>
                </a:lnTo>
                <a:lnTo>
                  <a:pt x="0" y="1606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84927" y="9103466"/>
            <a:ext cx="162383" cy="154264"/>
          </a:xfrm>
          <a:custGeom>
            <a:avLst/>
            <a:gdLst/>
            <a:ahLst/>
            <a:cxnLst/>
            <a:rect l="l" t="t" r="r" b="b"/>
            <a:pathLst>
              <a:path w="162383" h="154264">
                <a:moveTo>
                  <a:pt x="0" y="0"/>
                </a:moveTo>
                <a:lnTo>
                  <a:pt x="162384" y="0"/>
                </a:lnTo>
                <a:lnTo>
                  <a:pt x="162384" y="154264"/>
                </a:lnTo>
                <a:lnTo>
                  <a:pt x="0" y="1542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065406" y="8267176"/>
            <a:ext cx="200504" cy="187471"/>
          </a:xfrm>
          <a:custGeom>
            <a:avLst/>
            <a:gdLst/>
            <a:ahLst/>
            <a:cxnLst/>
            <a:rect l="l" t="t" r="r" b="b"/>
            <a:pathLst>
              <a:path w="200504" h="187471">
                <a:moveTo>
                  <a:pt x="0" y="0"/>
                </a:moveTo>
                <a:lnTo>
                  <a:pt x="200504" y="0"/>
                </a:lnTo>
                <a:lnTo>
                  <a:pt x="200504" y="187471"/>
                </a:lnTo>
                <a:lnTo>
                  <a:pt x="0" y="18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78211" y="3677466"/>
            <a:ext cx="4521389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Opiniones Subjetivas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6201" y="6710887"/>
            <a:ext cx="5703860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Los clubes y entrenadores carecen de herramientas profesionales para analizar el rendimiento y evolución de sus jugadores.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00676" y="270450"/>
            <a:ext cx="10286649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Subjetividad en el Pádel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El problema que </a:t>
            </a:r>
            <a:r>
              <a:rPr lang="en-US" sz="3900">
                <a:solidFill>
                  <a:srgbClr val="C1FF72"/>
                </a:solidFill>
                <a:latin typeface="Mokoto"/>
                <a:ea typeface="Mokoto"/>
                <a:cs typeface="Mokoto"/>
                <a:sym typeface="Mokoto"/>
              </a:rPr>
              <a:t>resuelve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6201" y="4150541"/>
            <a:ext cx="5357729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Las valoraciones de nivel se basan en percepciones empíricas sin rigor técnico.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6201" y="5435059"/>
            <a:ext cx="5181855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 Falta de estadísticas objetivas sobre rendimiento y evolución táctica.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6201" y="4981034"/>
            <a:ext cx="4220845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Ausencia de métricas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6201" y="6237538"/>
            <a:ext cx="6218873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Falta de Inteligencia Artificial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65406" y="4406446"/>
            <a:ext cx="4157187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Una aplicación web multiplataforma capaz de calcular un Power Level exacto y analizar cada faceta del juego con IA.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65406" y="3118419"/>
            <a:ext cx="4157187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¿Y si existiera un Scouter con estilo Dragon Ball?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5831" y="8190976"/>
            <a:ext cx="5108099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Hojas de calculo improvisadas para seguir jugadores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Software generico que no entiende el sistema FEP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Sin analisis de rendimiento basado en datos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Gestion manual de torneos y parejas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Ninguna integracion con inteligencia artificial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3213" y="8190976"/>
            <a:ext cx="7745492" cy="1378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Perfiles con 19 estadisticas tecnicas, fisicas y mentales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Ranking automatico basado en sistema Federación Española de Padel (FEP) real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Analisis narrativo con IA y planes de mejora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Validacion inteligente de rondas y bloqueo de parejas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Chatbot RAG sobre el reglamento oficial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8210" y="7822772"/>
            <a:ext cx="2831789" cy="211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 err="1">
                <a:solidFill>
                  <a:srgbClr val="FF5757"/>
                </a:solidFill>
                <a:latin typeface="Mokoto"/>
                <a:ea typeface="Mokoto"/>
                <a:cs typeface="Mokoto"/>
                <a:sym typeface="Mokoto"/>
              </a:rPr>
              <a:t>Situacion</a:t>
            </a:r>
            <a:r>
              <a:rPr lang="en-US" sz="1599" dirty="0">
                <a:solidFill>
                  <a:srgbClr val="FF5757"/>
                </a:solidFill>
                <a:latin typeface="Mokoto"/>
                <a:ea typeface="Mokoto"/>
                <a:cs typeface="Mokoto"/>
                <a:sym typeface="Mokoto"/>
              </a:rPr>
              <a:t> actual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87364" y="7869666"/>
            <a:ext cx="294973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C1FF72"/>
                </a:solidFill>
                <a:latin typeface="Mokoto"/>
                <a:ea typeface="Mokoto"/>
                <a:cs typeface="Mokoto"/>
                <a:sym typeface="Mokoto"/>
              </a:rPr>
              <a:t>Con Padel Scouter</a:t>
            </a:r>
          </a:p>
        </p:txBody>
      </p:sp>
      <p:sp>
        <p:nvSpPr>
          <p:cNvPr id="24" name="Freeform 24"/>
          <p:cNvSpPr/>
          <p:nvPr/>
        </p:nvSpPr>
        <p:spPr>
          <a:xfrm>
            <a:off x="7065406" y="8548723"/>
            <a:ext cx="200504" cy="187471"/>
          </a:xfrm>
          <a:custGeom>
            <a:avLst/>
            <a:gdLst/>
            <a:ahLst/>
            <a:cxnLst/>
            <a:rect l="l" t="t" r="r" b="b"/>
            <a:pathLst>
              <a:path w="200504" h="187471">
                <a:moveTo>
                  <a:pt x="0" y="0"/>
                </a:moveTo>
                <a:lnTo>
                  <a:pt x="200504" y="0"/>
                </a:lnTo>
                <a:lnTo>
                  <a:pt x="200504" y="187471"/>
                </a:lnTo>
                <a:lnTo>
                  <a:pt x="0" y="18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065406" y="8830270"/>
            <a:ext cx="200504" cy="187471"/>
          </a:xfrm>
          <a:custGeom>
            <a:avLst/>
            <a:gdLst/>
            <a:ahLst/>
            <a:cxnLst/>
            <a:rect l="l" t="t" r="r" b="b"/>
            <a:pathLst>
              <a:path w="200504" h="187471">
                <a:moveTo>
                  <a:pt x="0" y="0"/>
                </a:moveTo>
                <a:lnTo>
                  <a:pt x="200504" y="0"/>
                </a:lnTo>
                <a:lnTo>
                  <a:pt x="200504" y="187471"/>
                </a:lnTo>
                <a:lnTo>
                  <a:pt x="0" y="18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065406" y="9108360"/>
            <a:ext cx="200504" cy="187471"/>
          </a:xfrm>
          <a:custGeom>
            <a:avLst/>
            <a:gdLst/>
            <a:ahLst/>
            <a:cxnLst/>
            <a:rect l="l" t="t" r="r" b="b"/>
            <a:pathLst>
              <a:path w="200504" h="187471">
                <a:moveTo>
                  <a:pt x="0" y="0"/>
                </a:moveTo>
                <a:lnTo>
                  <a:pt x="200504" y="0"/>
                </a:lnTo>
                <a:lnTo>
                  <a:pt x="200504" y="187470"/>
                </a:lnTo>
                <a:lnTo>
                  <a:pt x="0" y="1874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065406" y="9373296"/>
            <a:ext cx="200504" cy="187471"/>
          </a:xfrm>
          <a:custGeom>
            <a:avLst/>
            <a:gdLst/>
            <a:ahLst/>
            <a:cxnLst/>
            <a:rect l="l" t="t" r="r" b="b"/>
            <a:pathLst>
              <a:path w="200504" h="187471">
                <a:moveTo>
                  <a:pt x="0" y="0"/>
                </a:moveTo>
                <a:lnTo>
                  <a:pt x="200504" y="0"/>
                </a:lnTo>
                <a:lnTo>
                  <a:pt x="200504" y="187471"/>
                </a:lnTo>
                <a:lnTo>
                  <a:pt x="0" y="187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10800000">
            <a:off x="-4419435" y="-3471482"/>
            <a:ext cx="7727108" cy="6434574"/>
          </a:xfrm>
          <a:custGeom>
            <a:avLst/>
            <a:gdLst/>
            <a:ahLst/>
            <a:cxnLst/>
            <a:rect l="l" t="t" r="r" b="b"/>
            <a:pathLst>
              <a:path w="7727108" h="6434574">
                <a:moveTo>
                  <a:pt x="0" y="0"/>
                </a:moveTo>
                <a:lnTo>
                  <a:pt x="7727108" y="0"/>
                </a:lnTo>
                <a:lnTo>
                  <a:pt x="7727108" y="6434573"/>
                </a:lnTo>
                <a:lnTo>
                  <a:pt x="0" y="6434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32625" y="1308712"/>
            <a:ext cx="11255057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Publico objetivo y </a:t>
            </a:r>
            <a:r>
              <a:rPr lang="en-US" sz="3900">
                <a:solidFill>
                  <a:srgbClr val="7ED957"/>
                </a:solidFill>
                <a:latin typeface="Mokoto"/>
                <a:ea typeface="Mokoto"/>
                <a:cs typeface="Mokoto"/>
                <a:sym typeface="Mokoto"/>
              </a:rPr>
              <a:t>objetivos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349238"/>
            <a:ext cx="6677501" cy="333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Para quien esta hecho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999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5CE1E6">
                      <a:alpha val="100000"/>
                    </a:srgbClr>
                  </a:gs>
                </a:gsLst>
                <a:lin ang="0"/>
              </a:gradFill>
              <a:latin typeface="Mokoto"/>
              <a:ea typeface="Mokoto"/>
              <a:cs typeface="Mokoto"/>
              <a:sym typeface="Mokoto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1FF72"/>
                </a:solidFill>
                <a:latin typeface="Tomorrow"/>
                <a:ea typeface="Tomorrow"/>
                <a:cs typeface="Tomorrow"/>
                <a:sym typeface="Tomorrow"/>
              </a:rPr>
              <a:t>▶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Entrenadores y directores técnicos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1FF72"/>
                </a:solidFill>
                <a:latin typeface="Tomorrow"/>
                <a:ea typeface="Tomorrow"/>
                <a:cs typeface="Tomorrow"/>
                <a:sym typeface="Tomorrow"/>
              </a:rPr>
              <a:t>▶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Jugadores que buscan evolución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1FF72"/>
                </a:solidFill>
                <a:latin typeface="Tomorrow"/>
                <a:ea typeface="Tomorrow"/>
                <a:cs typeface="Tomorrow"/>
                <a:sym typeface="Tomorrow"/>
              </a:rPr>
              <a:t>▶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Organizadores de torneos amateur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1FF72"/>
                </a:solidFill>
                <a:latin typeface="Tomorrow"/>
                <a:ea typeface="Tomorrow"/>
                <a:cs typeface="Tomorrow"/>
                <a:sym typeface="Tomorrow"/>
              </a:rPr>
              <a:t>▶</a:t>
            </a:r>
            <a:r>
              <a:rPr lang="en-US" sz="2000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 Aficionados que quieren datos profesionales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69003" y="3339713"/>
            <a:ext cx="7490297" cy="546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Objetivos cumplidos</a:t>
            </a:r>
          </a:p>
          <a:p>
            <a:pPr algn="l">
              <a:lnSpc>
                <a:spcPts val="2746"/>
              </a:lnSpc>
              <a:spcBef>
                <a:spcPct val="0"/>
              </a:spcBef>
            </a:pPr>
            <a:endParaRPr lang="en-US" sz="3000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Mokoto"/>
              <a:ea typeface="Mokoto"/>
              <a:cs typeface="Mokoto"/>
              <a:sym typeface="Mokoto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CRUD completo de jugadores, partidos y torneos </a:t>
            </a:r>
            <a:r>
              <a:rPr lang="en-US" sz="1999" b="1">
                <a:solidFill>
                  <a:srgbClr val="C1FF72"/>
                </a:solidFill>
                <a:latin typeface="Tomorrow Bold"/>
                <a:ea typeface="Tomorrow Bold"/>
                <a:cs typeface="Tomorrow Bold"/>
                <a:sym typeface="Tomorrow Bold"/>
              </a:rPr>
              <a:t>✓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C1FF72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Análisis de rendimiento con IA (Gemini) </a:t>
            </a:r>
            <a:r>
              <a:rPr lang="en-US" sz="1999" b="1">
                <a:solidFill>
                  <a:srgbClr val="C1FF72"/>
                </a:solidFill>
                <a:latin typeface="Tomorrow Bold"/>
                <a:ea typeface="Tomorrow Bold"/>
                <a:cs typeface="Tomorrow Bold"/>
                <a:sym typeface="Tomorrow Bold"/>
              </a:rPr>
              <a:t>✓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C1FF72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Ranking FEP con estadísticas avanzadas </a:t>
            </a:r>
            <a:r>
              <a:rPr lang="en-US" sz="1999" b="1">
                <a:solidFill>
                  <a:srgbClr val="C1FF72"/>
                </a:solidFill>
                <a:latin typeface="Tomorrow Bold"/>
                <a:ea typeface="Tomorrow Bold"/>
                <a:cs typeface="Tomorrow Bold"/>
                <a:sym typeface="Tomorrow Bold"/>
              </a:rPr>
              <a:t>✓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C1FF72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Exportación de informes en PDF </a:t>
            </a:r>
            <a:r>
              <a:rPr lang="en-US" sz="1999" b="1">
                <a:solidFill>
                  <a:srgbClr val="C1FF72"/>
                </a:solidFill>
                <a:latin typeface="Tomorrow Bold"/>
                <a:ea typeface="Tomorrow Bold"/>
                <a:cs typeface="Tomorrow Bold"/>
                <a:sym typeface="Tomorrow Bold"/>
              </a:rPr>
              <a:t>✓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C1FF72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Chatbot RAG de reglamento </a:t>
            </a:r>
            <a:r>
              <a:rPr lang="en-US" sz="1999" b="1">
                <a:solidFill>
                  <a:srgbClr val="C1FF72"/>
                </a:solidFill>
                <a:latin typeface="Tomorrow Bold"/>
                <a:ea typeface="Tomorrow Bold"/>
                <a:cs typeface="Tomorrow Bold"/>
                <a:sym typeface="Tomorrow Bold"/>
              </a:rPr>
              <a:t>✓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C1FF72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Clean Architecture + seguridad OWASP </a:t>
            </a:r>
            <a:r>
              <a:rPr lang="en-US" sz="1999" b="1">
                <a:solidFill>
                  <a:srgbClr val="C1FF72"/>
                </a:solidFill>
                <a:latin typeface="Tomorrow Bold"/>
                <a:ea typeface="Tomorrow Bold"/>
                <a:cs typeface="Tomorrow Bold"/>
                <a:sym typeface="Tomorrow Bold"/>
              </a:rPr>
              <a:t>✓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C1FF72"/>
              </a:solidFill>
              <a:latin typeface="Tomorrow Bold"/>
              <a:ea typeface="Tomorrow Bold"/>
              <a:cs typeface="Tomorrow Bold"/>
              <a:sym typeface="Tomorrow Bol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68 tests unitarios (82% cobertura) </a:t>
            </a:r>
            <a:r>
              <a:rPr lang="en-US" sz="1999" b="1">
                <a:solidFill>
                  <a:srgbClr val="C1FF72"/>
                </a:solidFill>
                <a:latin typeface="Tomorrow Bold"/>
                <a:ea typeface="Tomorrow Bold"/>
                <a:cs typeface="Tomorrow Bold"/>
                <a:sym typeface="Tomorrow Bold"/>
              </a:rPr>
              <a:t>✓</a:t>
            </a:r>
          </a:p>
        </p:txBody>
      </p:sp>
      <p:sp>
        <p:nvSpPr>
          <p:cNvPr id="5" name="Freeform 5"/>
          <p:cNvSpPr/>
          <p:nvPr/>
        </p:nvSpPr>
        <p:spPr>
          <a:xfrm>
            <a:off x="-4130985" y="-1715628"/>
            <a:ext cx="7295096" cy="5332052"/>
          </a:xfrm>
          <a:custGeom>
            <a:avLst/>
            <a:gdLst/>
            <a:ahLst/>
            <a:cxnLst/>
            <a:rect l="l" t="t" r="r" b="b"/>
            <a:pathLst>
              <a:path w="7295096" h="5332052">
                <a:moveTo>
                  <a:pt x="0" y="0"/>
                </a:moveTo>
                <a:lnTo>
                  <a:pt x="7295096" y="0"/>
                </a:lnTo>
                <a:lnTo>
                  <a:pt x="7295096" y="5332052"/>
                </a:lnTo>
                <a:lnTo>
                  <a:pt x="0" y="5332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724379" y="-4193474"/>
            <a:ext cx="8701678" cy="7182840"/>
          </a:xfrm>
          <a:custGeom>
            <a:avLst/>
            <a:gdLst/>
            <a:ahLst/>
            <a:cxnLst/>
            <a:rect l="l" t="t" r="r" b="b"/>
            <a:pathLst>
              <a:path w="8701678" h="7182840">
                <a:moveTo>
                  <a:pt x="0" y="0"/>
                </a:moveTo>
                <a:lnTo>
                  <a:pt x="8701677" y="0"/>
                </a:lnTo>
                <a:lnTo>
                  <a:pt x="8701677" y="7182840"/>
                </a:lnTo>
                <a:lnTo>
                  <a:pt x="0" y="718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5743418" y="4336602"/>
            <a:ext cx="2704528" cy="2704528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512608" y="4301610"/>
            <a:ext cx="2704528" cy="2704528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504069" y="4301610"/>
            <a:ext cx="2704528" cy="2704528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984267" y="4412204"/>
            <a:ext cx="2704528" cy="2704528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-7671839" y="-4350693"/>
            <a:ext cx="13383643" cy="9782226"/>
          </a:xfrm>
          <a:custGeom>
            <a:avLst/>
            <a:gdLst/>
            <a:ahLst/>
            <a:cxnLst/>
            <a:rect l="l" t="t" r="r" b="b"/>
            <a:pathLst>
              <a:path w="13383643" h="9782226">
                <a:moveTo>
                  <a:pt x="0" y="0"/>
                </a:moveTo>
                <a:lnTo>
                  <a:pt x="13383642" y="0"/>
                </a:lnTo>
                <a:lnTo>
                  <a:pt x="13383642" y="9782226"/>
                </a:lnTo>
                <a:lnTo>
                  <a:pt x="0" y="97822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24379" y="-4193474"/>
            <a:ext cx="8701678" cy="7182840"/>
          </a:xfrm>
          <a:custGeom>
            <a:avLst/>
            <a:gdLst/>
            <a:ahLst/>
            <a:cxnLst/>
            <a:rect l="l" t="t" r="r" b="b"/>
            <a:pathLst>
              <a:path w="8701678" h="7182840">
                <a:moveTo>
                  <a:pt x="0" y="0"/>
                </a:moveTo>
                <a:lnTo>
                  <a:pt x="8701677" y="0"/>
                </a:lnTo>
                <a:lnTo>
                  <a:pt x="8701677" y="7182840"/>
                </a:lnTo>
                <a:lnTo>
                  <a:pt x="0" y="71828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961596" y="2194367"/>
            <a:ext cx="9762782" cy="113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06"/>
              </a:lnSpc>
            </a:pPr>
            <a:r>
              <a:rPr lang="en-US" sz="3900" spc="-42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LA SOLUCIÓN: </a:t>
            </a:r>
            <a:r>
              <a:rPr lang="en-US" sz="3900" spc="-421">
                <a:solidFill>
                  <a:srgbClr val="C1FF72"/>
                </a:solidFill>
                <a:latin typeface="Mokoto"/>
                <a:ea typeface="Mokoto"/>
                <a:cs typeface="Mokoto"/>
                <a:sym typeface="Mokoto"/>
              </a:rPr>
              <a:t>PADEL SCOUTER</a:t>
            </a:r>
          </a:p>
          <a:p>
            <a:pPr marL="0" lvl="0" indent="0" algn="ctr">
              <a:lnSpc>
                <a:spcPts val="4406"/>
              </a:lnSpc>
            </a:pPr>
            <a:endParaRPr lang="en-US" sz="3900" spc="-421">
              <a:solidFill>
                <a:srgbClr val="C1FF72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743418" y="7457937"/>
            <a:ext cx="2704528" cy="53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33"/>
              </a:lnSpc>
            </a:pPr>
            <a:r>
              <a:rPr lang="en-US" sz="1800" spc="-194">
                <a:solidFill>
                  <a:srgbClr val="CB6CE6"/>
                </a:solidFill>
                <a:latin typeface="Mokoto"/>
                <a:ea typeface="Mokoto"/>
                <a:cs typeface="Mokoto"/>
                <a:sym typeface="Mokoto"/>
              </a:rPr>
              <a:t>FORTALEZAS Y DEBILIDADES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12608" y="7409870"/>
            <a:ext cx="2704528" cy="53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33"/>
              </a:lnSpc>
            </a:pPr>
            <a:r>
              <a:rPr lang="en-US" sz="1800" spc="-194">
                <a:solidFill>
                  <a:srgbClr val="FF66C4"/>
                </a:solidFill>
                <a:latin typeface="Mokoto"/>
                <a:ea typeface="Mokoto"/>
                <a:cs typeface="Mokoto"/>
                <a:sym typeface="Mokoto"/>
              </a:rPr>
              <a:t>PLANES PERSONALIZADOS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04069" y="7593755"/>
            <a:ext cx="2704528" cy="273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33"/>
              </a:lnSpc>
            </a:pPr>
            <a:r>
              <a:rPr lang="en-US" sz="1800" spc="-194">
                <a:solidFill>
                  <a:srgbClr val="F7C465"/>
                </a:solidFill>
                <a:latin typeface="Mokoto"/>
                <a:ea typeface="Mokoto"/>
                <a:cs typeface="Mokoto"/>
                <a:sym typeface="Mokoto"/>
              </a:rPr>
              <a:t>RANKING Y BADGES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84267" y="7538458"/>
            <a:ext cx="2853859" cy="273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33"/>
              </a:lnSpc>
            </a:pPr>
            <a:r>
              <a:rPr lang="en-US" sz="1800" spc="-194">
                <a:solidFill>
                  <a:srgbClr val="FF751F"/>
                </a:solidFill>
                <a:latin typeface="Mokoto"/>
                <a:ea typeface="Mokoto"/>
                <a:cs typeface="Mokoto"/>
                <a:sym typeface="Mokoto"/>
              </a:rPr>
              <a:t>ANALIZA Y PUNTÚA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43418" y="8192635"/>
            <a:ext cx="3534121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Detecta puntos fuertes y áreas de mejora con precisión mediante IA.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36141" y="8192635"/>
            <a:ext cx="3709327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Genera planes de entrenamiento personalizados con Google Gemini AI.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02642" y="8192635"/>
            <a:ext cx="4122029" cy="549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Sistema de ranking FEP y badges desbloqueables inspirados en Dragon Ball.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52265" y="8202160"/>
            <a:ext cx="3733978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  <a:spcBef>
                <a:spcPct val="0"/>
              </a:spcBef>
            </a:pPr>
            <a:r>
              <a:rPr lang="en-US" sz="16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Evalúa cada jugador con métricas reales y genera un Power Level único.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1047" y="-3412148"/>
            <a:ext cx="9632152" cy="9710082"/>
          </a:xfrm>
          <a:custGeom>
            <a:avLst/>
            <a:gdLst/>
            <a:ahLst/>
            <a:cxnLst/>
            <a:rect l="l" t="t" r="r" b="b"/>
            <a:pathLst>
              <a:path w="9632152" h="9710082">
                <a:moveTo>
                  <a:pt x="0" y="0"/>
                </a:moveTo>
                <a:lnTo>
                  <a:pt x="9632152" y="0"/>
                </a:lnTo>
                <a:lnTo>
                  <a:pt x="9632152" y="9710082"/>
                </a:lnTo>
                <a:lnTo>
                  <a:pt x="0" y="971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256842" y="3144910"/>
            <a:ext cx="7746655" cy="7894681"/>
          </a:xfrm>
          <a:custGeom>
            <a:avLst/>
            <a:gdLst/>
            <a:ahLst/>
            <a:cxnLst/>
            <a:rect l="l" t="t" r="r" b="b"/>
            <a:pathLst>
              <a:path w="7746655" h="7894681">
                <a:moveTo>
                  <a:pt x="0" y="0"/>
                </a:moveTo>
                <a:lnTo>
                  <a:pt x="7746656" y="0"/>
                </a:lnTo>
                <a:lnTo>
                  <a:pt x="7746656" y="7894680"/>
                </a:lnTo>
                <a:lnTo>
                  <a:pt x="0" y="7894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51783" y="5491916"/>
            <a:ext cx="577164" cy="577164"/>
          </a:xfrm>
          <a:custGeom>
            <a:avLst/>
            <a:gdLst/>
            <a:ahLst/>
            <a:cxnLst/>
            <a:rect l="l" t="t" r="r" b="b"/>
            <a:pathLst>
              <a:path w="577164" h="577164">
                <a:moveTo>
                  <a:pt x="0" y="0"/>
                </a:moveTo>
                <a:lnTo>
                  <a:pt x="577164" y="0"/>
                </a:lnTo>
                <a:lnTo>
                  <a:pt x="577164" y="577164"/>
                </a:lnTo>
                <a:lnTo>
                  <a:pt x="0" y="577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79812" y="5431337"/>
            <a:ext cx="637743" cy="637743"/>
          </a:xfrm>
          <a:custGeom>
            <a:avLst/>
            <a:gdLst/>
            <a:ahLst/>
            <a:cxnLst/>
            <a:rect l="l" t="t" r="r" b="b"/>
            <a:pathLst>
              <a:path w="637743" h="637743">
                <a:moveTo>
                  <a:pt x="0" y="0"/>
                </a:moveTo>
                <a:lnTo>
                  <a:pt x="637742" y="0"/>
                </a:lnTo>
                <a:lnTo>
                  <a:pt x="637742" y="637743"/>
                </a:lnTo>
                <a:lnTo>
                  <a:pt x="0" y="6377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87404" y="7489651"/>
            <a:ext cx="642537" cy="642537"/>
          </a:xfrm>
          <a:custGeom>
            <a:avLst/>
            <a:gdLst/>
            <a:ahLst/>
            <a:cxnLst/>
            <a:rect l="l" t="t" r="r" b="b"/>
            <a:pathLst>
              <a:path w="642537" h="642537">
                <a:moveTo>
                  <a:pt x="0" y="0"/>
                </a:moveTo>
                <a:lnTo>
                  <a:pt x="642536" y="0"/>
                </a:lnTo>
                <a:lnTo>
                  <a:pt x="642536" y="642537"/>
                </a:lnTo>
                <a:lnTo>
                  <a:pt x="0" y="6425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97828" y="7471913"/>
            <a:ext cx="642537" cy="642537"/>
          </a:xfrm>
          <a:custGeom>
            <a:avLst/>
            <a:gdLst/>
            <a:ahLst/>
            <a:cxnLst/>
            <a:rect l="l" t="t" r="r" b="b"/>
            <a:pathLst>
              <a:path w="642537" h="642537">
                <a:moveTo>
                  <a:pt x="0" y="0"/>
                </a:moveTo>
                <a:lnTo>
                  <a:pt x="642537" y="0"/>
                </a:lnTo>
                <a:lnTo>
                  <a:pt x="642537" y="642536"/>
                </a:lnTo>
                <a:lnTo>
                  <a:pt x="0" y="6425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382209" y="3213059"/>
            <a:ext cx="637743" cy="637743"/>
          </a:xfrm>
          <a:custGeom>
            <a:avLst/>
            <a:gdLst/>
            <a:ahLst/>
            <a:cxnLst/>
            <a:rect l="l" t="t" r="r" b="b"/>
            <a:pathLst>
              <a:path w="637743" h="637743">
                <a:moveTo>
                  <a:pt x="0" y="0"/>
                </a:moveTo>
                <a:lnTo>
                  <a:pt x="637742" y="0"/>
                </a:lnTo>
                <a:lnTo>
                  <a:pt x="637742" y="637742"/>
                </a:lnTo>
                <a:lnTo>
                  <a:pt x="0" y="6377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624077" y="6297934"/>
            <a:ext cx="3635223" cy="3635223"/>
          </a:xfrm>
          <a:custGeom>
            <a:avLst/>
            <a:gdLst/>
            <a:ahLst/>
            <a:cxnLst/>
            <a:rect l="l" t="t" r="r" b="b"/>
            <a:pathLst>
              <a:path w="3635223" h="3635223">
                <a:moveTo>
                  <a:pt x="0" y="0"/>
                </a:moveTo>
                <a:lnTo>
                  <a:pt x="3635223" y="0"/>
                </a:lnTo>
                <a:lnTo>
                  <a:pt x="3635223" y="3635223"/>
                </a:lnTo>
                <a:lnTo>
                  <a:pt x="0" y="3635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06454" y="1636892"/>
            <a:ext cx="6999277" cy="577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06"/>
              </a:lnSpc>
            </a:pPr>
            <a:r>
              <a:rPr lang="en-US" sz="3900" spc="-42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CARACTERÍSTICAS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72592" y="6283195"/>
            <a:ext cx="6405454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⚡ Gestión completa de jugadores con 19 estadísticas avanzadas</a:t>
            </a:r>
          </a:p>
          <a:p>
            <a:pPr marL="0" lvl="0" indent="0" algn="just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🏆 Sistema de torneos con validación de rondas y brackets</a:t>
            </a:r>
          </a:p>
          <a:p>
            <a:pPr marL="0" lvl="0" indent="0" algn="just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📋 Registro seguro y validado de partidos con historial completo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014322" y="4050826"/>
            <a:ext cx="6660635" cy="826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🔥 Ranking FEP oficial y Power Level inspirado en Dragon Ball Z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🎖️ Sistema de badges y logros desbloqueables por rendimiento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📊 Comparador de jugadores con métricas y radar de habilidades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72592" y="8367097"/>
            <a:ext cx="6646011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🤖 Análisis IA con Google Gemini: plan de mejora en 3 fases</a:t>
            </a:r>
          </a:p>
          <a:p>
            <a:pPr marL="0" lvl="0" indent="0" algn="just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📄 Exportación PDF profesional con gráficos radar hexagonales</a:t>
            </a:r>
          </a:p>
          <a:p>
            <a:pPr marL="0" lvl="0" indent="0" algn="just">
              <a:lnSpc>
                <a:spcPts val="2100"/>
              </a:lnSpc>
              <a:spcBef>
                <a:spcPct val="0"/>
              </a:spcBef>
            </a:pPr>
            <a:r>
              <a:rPr lang="en-US" sz="1500" u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🔐 Seguridad JWT + OWASP con despliegue en Railway &amp; Supabase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19951" y="3461546"/>
            <a:ext cx="4310736" cy="30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0"/>
              </a:lnSpc>
            </a:pPr>
            <a:r>
              <a:rPr lang="en-US" sz="2000" spc="-216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RANKING &amp; POWER LEVEL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19951" y="5703563"/>
            <a:ext cx="4131831" cy="30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0"/>
              </a:lnSpc>
            </a:pPr>
            <a:r>
              <a:rPr lang="en-US" sz="2000" spc="-216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JUGADORES &amp; TORNEOS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9940" y="7810919"/>
            <a:ext cx="3311853" cy="30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60"/>
              </a:lnSpc>
            </a:pPr>
            <a:r>
              <a:rPr lang="en-US" sz="2000" spc="-216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IA &amp; EXPORTACIÓN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552021" y="4255022"/>
            <a:ext cx="7889030" cy="7928673"/>
          </a:xfrm>
          <a:custGeom>
            <a:avLst/>
            <a:gdLst/>
            <a:ahLst/>
            <a:cxnLst/>
            <a:rect l="l" t="t" r="r" b="b"/>
            <a:pathLst>
              <a:path w="7889030" h="7928673">
                <a:moveTo>
                  <a:pt x="0" y="0"/>
                </a:moveTo>
                <a:lnTo>
                  <a:pt x="7889029" y="0"/>
                </a:lnTo>
                <a:lnTo>
                  <a:pt x="7889029" y="7928673"/>
                </a:lnTo>
                <a:lnTo>
                  <a:pt x="0" y="7928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2460910" y="-3334898"/>
            <a:ext cx="12077233" cy="7202423"/>
          </a:xfrm>
          <a:custGeom>
            <a:avLst/>
            <a:gdLst/>
            <a:ahLst/>
            <a:cxnLst/>
            <a:rect l="l" t="t" r="r" b="b"/>
            <a:pathLst>
              <a:path w="12077233" h="7202423">
                <a:moveTo>
                  <a:pt x="12077233" y="0"/>
                </a:moveTo>
                <a:lnTo>
                  <a:pt x="0" y="0"/>
                </a:lnTo>
                <a:lnTo>
                  <a:pt x="0" y="7202423"/>
                </a:lnTo>
                <a:lnTo>
                  <a:pt x="12077233" y="7202423"/>
                </a:lnTo>
                <a:lnTo>
                  <a:pt x="120772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079590" y="4520606"/>
            <a:ext cx="2598564" cy="45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9"/>
              </a:lnSpc>
            </a:pPr>
            <a:r>
              <a:rPr lang="en-US" sz="2706" b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Backend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0972" y="5438021"/>
            <a:ext cx="3259768" cy="220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Python 3.14+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FastAPI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Uvicorn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SQLAlchemy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Alembic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WeasyPrint PDF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Pillow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Resend Email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22794" y="4520606"/>
            <a:ext cx="2598564" cy="45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9"/>
              </a:lnSpc>
            </a:pPr>
            <a:r>
              <a:rPr lang="en-US" sz="2706" b="1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Datos &amp; 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98687" y="5438021"/>
            <a:ext cx="3259768" cy="193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🗄️ PostgreSQL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🗄️ Redis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🤖 Google Gemini AI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🧠 Gemini 2.5 Flash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📄 Exportación PDF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🔐 JWT Auth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📊 Análisis 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676272" y="4520606"/>
            <a:ext cx="2598564" cy="45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89"/>
              </a:lnSpc>
            </a:pPr>
            <a:r>
              <a:rPr lang="en-US" sz="2706" b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Infra &amp; Deploy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76272" y="5438021"/>
            <a:ext cx="3259768" cy="193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🐳 Docker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🚀 Railway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🛢️ Supabase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⚡ Upstash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🔄 CI/CD Pipeline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🌐 REST API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🛡️ OWASP Top 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361" y="2668879"/>
            <a:ext cx="6999277" cy="577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06"/>
              </a:lnSpc>
            </a:pPr>
            <a:r>
              <a:rPr lang="en-US" sz="3900" spc="-42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STACK TECNOLÓGICO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93619" y="3850790"/>
            <a:ext cx="8242877" cy="8379036"/>
          </a:xfrm>
          <a:custGeom>
            <a:avLst/>
            <a:gdLst/>
            <a:ahLst/>
            <a:cxnLst/>
            <a:rect l="l" t="t" r="r" b="b"/>
            <a:pathLst>
              <a:path w="8242877" h="8379036">
                <a:moveTo>
                  <a:pt x="0" y="0"/>
                </a:moveTo>
                <a:lnTo>
                  <a:pt x="8242877" y="0"/>
                </a:lnTo>
                <a:lnTo>
                  <a:pt x="8242877" y="8379036"/>
                </a:lnTo>
                <a:lnTo>
                  <a:pt x="0" y="8379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35301" y="-2056809"/>
            <a:ext cx="8020266" cy="7940063"/>
          </a:xfrm>
          <a:custGeom>
            <a:avLst/>
            <a:gdLst/>
            <a:ahLst/>
            <a:cxnLst/>
            <a:rect l="l" t="t" r="r" b="b"/>
            <a:pathLst>
              <a:path w="8020266" h="7940063">
                <a:moveTo>
                  <a:pt x="0" y="0"/>
                </a:moveTo>
                <a:lnTo>
                  <a:pt x="8020266" y="0"/>
                </a:lnTo>
                <a:lnTo>
                  <a:pt x="8020266" y="7940063"/>
                </a:lnTo>
                <a:lnTo>
                  <a:pt x="0" y="7940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50493" y="4033514"/>
            <a:ext cx="2923391" cy="2413127"/>
          </a:xfrm>
          <a:custGeom>
            <a:avLst/>
            <a:gdLst/>
            <a:ahLst/>
            <a:cxnLst/>
            <a:rect l="l" t="t" r="r" b="b"/>
            <a:pathLst>
              <a:path w="2923391" h="2413127">
                <a:moveTo>
                  <a:pt x="0" y="0"/>
                </a:moveTo>
                <a:lnTo>
                  <a:pt x="2923391" y="0"/>
                </a:lnTo>
                <a:lnTo>
                  <a:pt x="2923391" y="2413127"/>
                </a:lnTo>
                <a:lnTo>
                  <a:pt x="0" y="2413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543559" y="3737539"/>
            <a:ext cx="2417270" cy="2793290"/>
          </a:xfrm>
          <a:custGeom>
            <a:avLst/>
            <a:gdLst/>
            <a:ahLst/>
            <a:cxnLst/>
            <a:rect l="l" t="t" r="r" b="b"/>
            <a:pathLst>
              <a:path w="2417270" h="2793290">
                <a:moveTo>
                  <a:pt x="0" y="0"/>
                </a:moveTo>
                <a:lnTo>
                  <a:pt x="2417270" y="0"/>
                </a:lnTo>
                <a:lnTo>
                  <a:pt x="2417270" y="2793290"/>
                </a:lnTo>
                <a:lnTo>
                  <a:pt x="0" y="27932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91283" y="6927185"/>
            <a:ext cx="3880808" cy="211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API Layer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Controladores REST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JWT Auth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Rate Limit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OWASP Top 10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Validación de entrada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44361" y="1922748"/>
            <a:ext cx="6999277" cy="113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06"/>
              </a:lnSpc>
            </a:pPr>
            <a:r>
              <a:rPr lang="en-US" sz="3900" spc="-42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ARQUITECTURA CLEAN (HEXAGONAL)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14116" y="6927185"/>
            <a:ext cx="3533826" cy="211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Service &amp; Domain Layer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Lógica de negocio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DDD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SOLID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Sin dependencias externas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Testing garantizado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94336" y="6927185"/>
            <a:ext cx="3259768" cy="281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Infrastructure Layer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PostgreSQL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Redis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SQLAlchemy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Alembic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Google Gemini AI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Railway</a:t>
            </a:r>
          </a:p>
          <a:p>
            <a:pPr marL="0" lvl="0" indent="0" algn="ctr">
              <a:lnSpc>
                <a:spcPts val="2798"/>
              </a:lnSpc>
              <a:spcBef>
                <a:spcPct val="0"/>
              </a:spcBef>
            </a:pPr>
            <a:r>
              <a:rPr lang="en-US" sz="19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· Supabase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558564" y="4010650"/>
            <a:ext cx="2324393" cy="2640226"/>
          </a:xfrm>
          <a:custGeom>
            <a:avLst/>
            <a:gdLst/>
            <a:ahLst/>
            <a:cxnLst/>
            <a:rect l="l" t="t" r="r" b="b"/>
            <a:pathLst>
              <a:path w="2324393" h="2640226">
                <a:moveTo>
                  <a:pt x="0" y="0"/>
                </a:moveTo>
                <a:lnTo>
                  <a:pt x="2324393" y="0"/>
                </a:lnTo>
                <a:lnTo>
                  <a:pt x="2324393" y="2640227"/>
                </a:lnTo>
                <a:lnTo>
                  <a:pt x="0" y="26402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30717" y="1280639"/>
            <a:ext cx="8226566" cy="8453151"/>
          </a:xfrm>
          <a:custGeom>
            <a:avLst/>
            <a:gdLst/>
            <a:ahLst/>
            <a:cxnLst/>
            <a:rect l="l" t="t" r="r" b="b"/>
            <a:pathLst>
              <a:path w="8226566" h="8453151">
                <a:moveTo>
                  <a:pt x="0" y="0"/>
                </a:moveTo>
                <a:lnTo>
                  <a:pt x="8226566" y="0"/>
                </a:lnTo>
                <a:lnTo>
                  <a:pt x="8226566" y="8453151"/>
                </a:lnTo>
                <a:lnTo>
                  <a:pt x="0" y="845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8" r="-2858" b="-31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842435" y="8240042"/>
            <a:ext cx="1493748" cy="1493748"/>
          </a:xfrm>
          <a:custGeom>
            <a:avLst/>
            <a:gdLst/>
            <a:ahLst/>
            <a:cxnLst/>
            <a:rect l="l" t="t" r="r" b="b"/>
            <a:pathLst>
              <a:path w="1493748" h="1493748">
                <a:moveTo>
                  <a:pt x="0" y="0"/>
                </a:moveTo>
                <a:lnTo>
                  <a:pt x="1493748" y="0"/>
                </a:lnTo>
                <a:lnTo>
                  <a:pt x="1493748" y="1493748"/>
                </a:lnTo>
                <a:lnTo>
                  <a:pt x="0" y="1493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9276" y="3841607"/>
            <a:ext cx="898848" cy="898848"/>
          </a:xfrm>
          <a:custGeom>
            <a:avLst/>
            <a:gdLst/>
            <a:ahLst/>
            <a:cxnLst/>
            <a:rect l="l" t="t" r="r" b="b"/>
            <a:pathLst>
              <a:path w="898848" h="898848">
                <a:moveTo>
                  <a:pt x="0" y="0"/>
                </a:moveTo>
                <a:lnTo>
                  <a:pt x="898848" y="0"/>
                </a:lnTo>
                <a:lnTo>
                  <a:pt x="898848" y="898848"/>
                </a:lnTo>
                <a:lnTo>
                  <a:pt x="0" y="898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50297" y="3841607"/>
            <a:ext cx="898848" cy="898848"/>
          </a:xfrm>
          <a:custGeom>
            <a:avLst/>
            <a:gdLst/>
            <a:ahLst/>
            <a:cxnLst/>
            <a:rect l="l" t="t" r="r" b="b"/>
            <a:pathLst>
              <a:path w="898848" h="898848">
                <a:moveTo>
                  <a:pt x="0" y="0"/>
                </a:moveTo>
                <a:lnTo>
                  <a:pt x="898847" y="0"/>
                </a:lnTo>
                <a:lnTo>
                  <a:pt x="898847" y="898848"/>
                </a:lnTo>
                <a:lnTo>
                  <a:pt x="0" y="8988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43690" y="3841607"/>
            <a:ext cx="898848" cy="898848"/>
          </a:xfrm>
          <a:custGeom>
            <a:avLst/>
            <a:gdLst/>
            <a:ahLst/>
            <a:cxnLst/>
            <a:rect l="l" t="t" r="r" b="b"/>
            <a:pathLst>
              <a:path w="898848" h="898848">
                <a:moveTo>
                  <a:pt x="0" y="0"/>
                </a:moveTo>
                <a:lnTo>
                  <a:pt x="898848" y="0"/>
                </a:lnTo>
                <a:lnTo>
                  <a:pt x="898848" y="898848"/>
                </a:lnTo>
                <a:lnTo>
                  <a:pt x="0" y="8988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85366" y="1223489"/>
            <a:ext cx="5075023" cy="2342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landing page centraliza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acceso al sistema: 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visualiza tu Power Level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consulta el ranking global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accede al dashboard de análisis.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 u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06488" y="356235"/>
            <a:ext cx="5075023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9"/>
              </a:lnSpc>
              <a:spcBef>
                <a:spcPct val="0"/>
              </a:spcBef>
            </a:pPr>
            <a:r>
              <a:rPr lang="en-US" sz="3900" u="none" strike="noStrik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landing page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39013" y="1223489"/>
            <a:ext cx="3879752" cy="20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oscuro e intuitivo inspirado en la estética Scouter.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Acceso rápido a todas las funcionalidades principales desde un solo punto.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28367" y="4050736"/>
            <a:ext cx="4458912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Power Level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83803" y="5083775"/>
            <a:ext cx="2853714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FF66C4"/>
                </a:solidFill>
                <a:latin typeface="Mokoto"/>
                <a:ea typeface="Mokoto"/>
                <a:cs typeface="Mokoto"/>
                <a:sym typeface="Mokoto"/>
              </a:rPr>
              <a:t>Dashboard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083803" y="6116814"/>
            <a:ext cx="2853714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7ED957"/>
                </a:solidFill>
                <a:latin typeface="Mokoto"/>
                <a:ea typeface="Mokoto"/>
                <a:cs typeface="Mokoto"/>
                <a:sym typeface="Mokoto"/>
              </a:rPr>
              <a:t>Ranking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62452" y="7149853"/>
            <a:ext cx="2853714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38B6FF"/>
                </a:solidFill>
                <a:latin typeface="Mokoto"/>
                <a:ea typeface="Mokoto"/>
                <a:cs typeface="Mokoto"/>
                <a:sym typeface="Mokoto"/>
              </a:rPr>
              <a:t>Análisis IA</a:t>
            </a:r>
          </a:p>
        </p:txBody>
      </p:sp>
      <p:sp>
        <p:nvSpPr>
          <p:cNvPr id="14" name="Freeform 14"/>
          <p:cNvSpPr/>
          <p:nvPr/>
        </p:nvSpPr>
        <p:spPr>
          <a:xfrm>
            <a:off x="-3814502" y="5998980"/>
            <a:ext cx="8086527" cy="8005662"/>
          </a:xfrm>
          <a:custGeom>
            <a:avLst/>
            <a:gdLst/>
            <a:ahLst/>
            <a:cxnLst/>
            <a:rect l="l" t="t" r="r" b="b"/>
            <a:pathLst>
              <a:path w="8086527" h="8005662">
                <a:moveTo>
                  <a:pt x="0" y="0"/>
                </a:moveTo>
                <a:lnTo>
                  <a:pt x="8086527" y="0"/>
                </a:lnTo>
                <a:lnTo>
                  <a:pt x="8086527" y="8005662"/>
                </a:lnTo>
                <a:lnTo>
                  <a:pt x="0" y="80056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8282" y="2181754"/>
            <a:ext cx="4667415" cy="2226783"/>
          </a:xfrm>
          <a:custGeom>
            <a:avLst/>
            <a:gdLst/>
            <a:ahLst/>
            <a:cxnLst/>
            <a:rect l="l" t="t" r="r" b="b"/>
            <a:pathLst>
              <a:path w="4667415" h="2226783">
                <a:moveTo>
                  <a:pt x="0" y="0"/>
                </a:moveTo>
                <a:lnTo>
                  <a:pt x="4667415" y="0"/>
                </a:lnTo>
                <a:lnTo>
                  <a:pt x="4667415" y="2226783"/>
                </a:lnTo>
                <a:lnTo>
                  <a:pt x="0" y="222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52" r="-27010" b="-2202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53478" y="2153179"/>
            <a:ext cx="3984623" cy="2859276"/>
          </a:xfrm>
          <a:custGeom>
            <a:avLst/>
            <a:gdLst/>
            <a:ahLst/>
            <a:cxnLst/>
            <a:rect l="l" t="t" r="r" b="b"/>
            <a:pathLst>
              <a:path w="3984623" h="2859276">
                <a:moveTo>
                  <a:pt x="0" y="0"/>
                </a:moveTo>
                <a:lnTo>
                  <a:pt x="3984623" y="0"/>
                </a:lnTo>
                <a:lnTo>
                  <a:pt x="3984623" y="2859276"/>
                </a:lnTo>
                <a:lnTo>
                  <a:pt x="0" y="2859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455" r="-24244" b="-10702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8282" y="6764073"/>
            <a:ext cx="4667415" cy="2869628"/>
          </a:xfrm>
          <a:custGeom>
            <a:avLst/>
            <a:gdLst/>
            <a:ahLst/>
            <a:cxnLst/>
            <a:rect l="l" t="t" r="r" b="b"/>
            <a:pathLst>
              <a:path w="4667415" h="2869628">
                <a:moveTo>
                  <a:pt x="0" y="0"/>
                </a:moveTo>
                <a:lnTo>
                  <a:pt x="4667415" y="0"/>
                </a:lnTo>
                <a:lnTo>
                  <a:pt x="4667415" y="2869627"/>
                </a:lnTo>
                <a:lnTo>
                  <a:pt x="0" y="2869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146" t="-138568" r="-2267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53478" y="6254608"/>
            <a:ext cx="3984623" cy="3379093"/>
          </a:xfrm>
          <a:custGeom>
            <a:avLst/>
            <a:gdLst/>
            <a:ahLst/>
            <a:cxnLst/>
            <a:rect l="l" t="t" r="r" b="b"/>
            <a:pathLst>
              <a:path w="3984623" h="3379093">
                <a:moveTo>
                  <a:pt x="0" y="0"/>
                </a:moveTo>
                <a:lnTo>
                  <a:pt x="3984623" y="0"/>
                </a:lnTo>
                <a:lnTo>
                  <a:pt x="3984623" y="3379092"/>
                </a:lnTo>
                <a:lnTo>
                  <a:pt x="0" y="337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439" r="-21539" b="-7420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16790" y="6761380"/>
            <a:ext cx="1252963" cy="2123891"/>
          </a:xfrm>
          <a:custGeom>
            <a:avLst/>
            <a:gdLst/>
            <a:ahLst/>
            <a:cxnLst/>
            <a:rect l="l" t="t" r="r" b="b"/>
            <a:pathLst>
              <a:path w="1252963" h="2123891">
                <a:moveTo>
                  <a:pt x="0" y="0"/>
                </a:moveTo>
                <a:lnTo>
                  <a:pt x="1252963" y="0"/>
                </a:lnTo>
                <a:lnTo>
                  <a:pt x="1252963" y="2123891"/>
                </a:lnTo>
                <a:lnTo>
                  <a:pt x="0" y="2123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0092" t="-209384" r="-307782" b="-15315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18247" y="6761380"/>
            <a:ext cx="1348401" cy="2123891"/>
          </a:xfrm>
          <a:custGeom>
            <a:avLst/>
            <a:gdLst/>
            <a:ahLst/>
            <a:cxnLst/>
            <a:rect l="l" t="t" r="r" b="b"/>
            <a:pathLst>
              <a:path w="1348401" h="2123891">
                <a:moveTo>
                  <a:pt x="0" y="0"/>
                </a:moveTo>
                <a:lnTo>
                  <a:pt x="1348401" y="0"/>
                </a:lnTo>
                <a:lnTo>
                  <a:pt x="1348401" y="2123891"/>
                </a:lnTo>
                <a:lnTo>
                  <a:pt x="0" y="21238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4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91611" y="6761380"/>
            <a:ext cx="1425180" cy="2123891"/>
          </a:xfrm>
          <a:custGeom>
            <a:avLst/>
            <a:gdLst/>
            <a:ahLst/>
            <a:cxnLst/>
            <a:rect l="l" t="t" r="r" b="b"/>
            <a:pathLst>
              <a:path w="1425180" h="2123891">
                <a:moveTo>
                  <a:pt x="0" y="0"/>
                </a:moveTo>
                <a:lnTo>
                  <a:pt x="1425179" y="0"/>
                </a:lnTo>
                <a:lnTo>
                  <a:pt x="1425179" y="2123891"/>
                </a:lnTo>
                <a:lnTo>
                  <a:pt x="0" y="21238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202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766648" y="6761380"/>
            <a:ext cx="1424963" cy="2123891"/>
          </a:xfrm>
          <a:custGeom>
            <a:avLst/>
            <a:gdLst/>
            <a:ahLst/>
            <a:cxnLst/>
            <a:rect l="l" t="t" r="r" b="b"/>
            <a:pathLst>
              <a:path w="1424963" h="2123891">
                <a:moveTo>
                  <a:pt x="0" y="0"/>
                </a:moveTo>
                <a:lnTo>
                  <a:pt x="1424963" y="0"/>
                </a:lnTo>
                <a:lnTo>
                  <a:pt x="1424963" y="2123891"/>
                </a:lnTo>
                <a:lnTo>
                  <a:pt x="0" y="21238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18247" y="1981729"/>
            <a:ext cx="5451506" cy="3683160"/>
          </a:xfrm>
          <a:custGeom>
            <a:avLst/>
            <a:gdLst/>
            <a:ahLst/>
            <a:cxnLst/>
            <a:rect l="l" t="t" r="r" b="b"/>
            <a:pathLst>
              <a:path w="5451506" h="3683160">
                <a:moveTo>
                  <a:pt x="0" y="0"/>
                </a:moveTo>
                <a:lnTo>
                  <a:pt x="5451506" y="0"/>
                </a:lnTo>
                <a:lnTo>
                  <a:pt x="5451506" y="3683160"/>
                </a:lnTo>
                <a:lnTo>
                  <a:pt x="0" y="3683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18247" y="5624789"/>
            <a:ext cx="5451506" cy="1136591"/>
          </a:xfrm>
          <a:custGeom>
            <a:avLst/>
            <a:gdLst/>
            <a:ahLst/>
            <a:cxnLst/>
            <a:rect l="l" t="t" r="r" b="b"/>
            <a:pathLst>
              <a:path w="5451506" h="1136591">
                <a:moveTo>
                  <a:pt x="0" y="0"/>
                </a:moveTo>
                <a:lnTo>
                  <a:pt x="5451506" y="0"/>
                </a:lnTo>
                <a:lnTo>
                  <a:pt x="5451506" y="1136591"/>
                </a:lnTo>
                <a:lnTo>
                  <a:pt x="0" y="11365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6870" b="-3300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606488" y="649605"/>
            <a:ext cx="5075023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9"/>
              </a:lnSpc>
              <a:spcBef>
                <a:spcPct val="0"/>
              </a:spcBef>
            </a:pPr>
            <a:r>
              <a:rPr lang="en-US" sz="3900" u="none" strike="noStrike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landing page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8282" y="1558290"/>
            <a:ext cx="4458912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Power Level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018933" y="1558290"/>
            <a:ext cx="2853714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FF66C4"/>
                </a:solidFill>
                <a:latin typeface="Mokoto"/>
                <a:ea typeface="Mokoto"/>
                <a:cs typeface="Mokoto"/>
                <a:sym typeface="Mokoto"/>
              </a:rPr>
              <a:t>Dashboard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0881" y="6135988"/>
            <a:ext cx="2853714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7ED957"/>
                </a:solidFill>
                <a:latin typeface="Mokoto"/>
                <a:ea typeface="Mokoto"/>
                <a:cs typeface="Mokoto"/>
                <a:sym typeface="Mokoto"/>
              </a:rPr>
              <a:t>Ranking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18933" y="5658528"/>
            <a:ext cx="2853714" cy="42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38B6FF"/>
                </a:solidFill>
                <a:latin typeface="Mokoto"/>
                <a:ea typeface="Mokoto"/>
                <a:cs typeface="Mokoto"/>
                <a:sym typeface="Mokoto"/>
              </a:rPr>
              <a:t>Análisis IA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83004" y="9405100"/>
            <a:ext cx="532199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50"/>
              </a:lnSpc>
              <a:spcBef>
                <a:spcPct val="0"/>
              </a:spcBef>
            </a:pPr>
            <a:r>
              <a:rPr lang="en-US" sz="2250">
                <a:solidFill>
                  <a:srgbClr val="FF5757"/>
                </a:solidFill>
                <a:latin typeface="Mokoto"/>
                <a:ea typeface="Mokoto"/>
                <a:cs typeface="Mokoto"/>
                <a:sym typeface="Mokoto"/>
              </a:rPr>
              <a:t>LOGROS DESBLOQUEABLES</a:t>
            </a:r>
          </a:p>
        </p:txBody>
      </p:sp>
      <p:sp>
        <p:nvSpPr>
          <p:cNvPr id="18" name="Freeform 18"/>
          <p:cNvSpPr/>
          <p:nvPr/>
        </p:nvSpPr>
        <p:spPr>
          <a:xfrm flipH="1">
            <a:off x="-274203" y="-2485045"/>
            <a:ext cx="6383881" cy="3807115"/>
          </a:xfrm>
          <a:custGeom>
            <a:avLst/>
            <a:gdLst/>
            <a:ahLst/>
            <a:cxnLst/>
            <a:rect l="l" t="t" r="r" b="b"/>
            <a:pathLst>
              <a:path w="6383881" h="3807115">
                <a:moveTo>
                  <a:pt x="6383881" y="0"/>
                </a:moveTo>
                <a:lnTo>
                  <a:pt x="0" y="0"/>
                </a:lnTo>
                <a:lnTo>
                  <a:pt x="0" y="3807115"/>
                </a:lnTo>
                <a:lnTo>
                  <a:pt x="6383881" y="3807115"/>
                </a:lnTo>
                <a:lnTo>
                  <a:pt x="638388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>
            <a:off x="12176812" y="-2485045"/>
            <a:ext cx="6383881" cy="3807115"/>
          </a:xfrm>
          <a:custGeom>
            <a:avLst/>
            <a:gdLst/>
            <a:ahLst/>
            <a:cxnLst/>
            <a:rect l="l" t="t" r="r" b="b"/>
            <a:pathLst>
              <a:path w="6383881" h="3807115">
                <a:moveTo>
                  <a:pt x="6383881" y="0"/>
                </a:moveTo>
                <a:lnTo>
                  <a:pt x="0" y="0"/>
                </a:lnTo>
                <a:lnTo>
                  <a:pt x="0" y="3807115"/>
                </a:lnTo>
                <a:lnTo>
                  <a:pt x="6383881" y="3807115"/>
                </a:lnTo>
                <a:lnTo>
                  <a:pt x="638388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62329" y="1812071"/>
            <a:ext cx="363341" cy="3633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12571" y="4961829"/>
            <a:ext cx="363341" cy="36334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13837" y="4961829"/>
            <a:ext cx="363341" cy="36334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62329" y="8109012"/>
            <a:ext cx="363341" cy="36334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769349" y="6294688"/>
            <a:ext cx="9037302" cy="7525608"/>
          </a:xfrm>
          <a:custGeom>
            <a:avLst/>
            <a:gdLst/>
            <a:ahLst/>
            <a:cxnLst/>
            <a:rect l="l" t="t" r="r" b="b"/>
            <a:pathLst>
              <a:path w="9037302" h="7525608">
                <a:moveTo>
                  <a:pt x="0" y="0"/>
                </a:moveTo>
                <a:lnTo>
                  <a:pt x="9037302" y="0"/>
                </a:lnTo>
                <a:lnTo>
                  <a:pt x="9037302" y="7525609"/>
                </a:lnTo>
                <a:lnTo>
                  <a:pt x="0" y="7525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4522296" y="-5814196"/>
            <a:ext cx="10334866" cy="9338961"/>
          </a:xfrm>
          <a:custGeom>
            <a:avLst/>
            <a:gdLst/>
            <a:ahLst/>
            <a:cxnLst/>
            <a:rect l="l" t="t" r="r" b="b"/>
            <a:pathLst>
              <a:path w="10334866" h="9338961">
                <a:moveTo>
                  <a:pt x="0" y="0"/>
                </a:moveTo>
                <a:lnTo>
                  <a:pt x="10334867" y="0"/>
                </a:lnTo>
                <a:lnTo>
                  <a:pt x="10334867" y="9338961"/>
                </a:lnTo>
                <a:lnTo>
                  <a:pt x="0" y="933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2150668" y="-977315"/>
            <a:ext cx="22101571" cy="12731922"/>
          </a:xfrm>
          <a:custGeom>
            <a:avLst/>
            <a:gdLst/>
            <a:ahLst/>
            <a:cxnLst/>
            <a:rect l="l" t="t" r="r" b="b"/>
            <a:pathLst>
              <a:path w="22101571" h="12731922">
                <a:moveTo>
                  <a:pt x="0" y="0"/>
                </a:moveTo>
                <a:lnTo>
                  <a:pt x="22101571" y="0"/>
                </a:lnTo>
                <a:lnTo>
                  <a:pt x="22101571" y="12731922"/>
                </a:lnTo>
                <a:lnTo>
                  <a:pt x="0" y="127319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041" r="-8041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520707" y="2327942"/>
            <a:ext cx="2853714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JWT Auth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20707" y="4885629"/>
            <a:ext cx="2853714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Seguridad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34354" y="4882682"/>
            <a:ext cx="2853714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Validación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34354" y="7848193"/>
            <a:ext cx="2853714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OWASP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85140" y="7348347"/>
            <a:ext cx="3889281" cy="125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Autenticación segura con tokens</a:t>
            </a:r>
          </a:p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JWT firmados</a:t>
            </a:r>
          </a:p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 Protección contra ataques</a:t>
            </a:r>
          </a:p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 Sesiones controladas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34354" y="1048829"/>
            <a:ext cx="4857550" cy="9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Diseño elegante y minimalista con estándares OWASP Top 10.</a:t>
            </a:r>
          </a:p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Acceso seguro y validado para cada usuario.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42975"/>
            <a:ext cx="2079531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LOGIN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62329" y="1812071"/>
            <a:ext cx="363341" cy="3633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12571" y="4961829"/>
            <a:ext cx="363341" cy="36334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13837" y="4961829"/>
            <a:ext cx="363341" cy="36334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62329" y="8109012"/>
            <a:ext cx="363341" cy="36334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94241" y="1993741"/>
            <a:ext cx="6299517" cy="629951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769349" y="6294688"/>
            <a:ext cx="9037302" cy="7525608"/>
          </a:xfrm>
          <a:custGeom>
            <a:avLst/>
            <a:gdLst/>
            <a:ahLst/>
            <a:cxnLst/>
            <a:rect l="l" t="t" r="r" b="b"/>
            <a:pathLst>
              <a:path w="9037302" h="7525608">
                <a:moveTo>
                  <a:pt x="0" y="0"/>
                </a:moveTo>
                <a:lnTo>
                  <a:pt x="9037302" y="0"/>
                </a:lnTo>
                <a:lnTo>
                  <a:pt x="9037302" y="7525609"/>
                </a:lnTo>
                <a:lnTo>
                  <a:pt x="0" y="7525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4522296" y="-5814196"/>
            <a:ext cx="10334866" cy="9338961"/>
          </a:xfrm>
          <a:custGeom>
            <a:avLst/>
            <a:gdLst/>
            <a:ahLst/>
            <a:cxnLst/>
            <a:rect l="l" t="t" r="r" b="b"/>
            <a:pathLst>
              <a:path w="10334866" h="9338961">
                <a:moveTo>
                  <a:pt x="0" y="0"/>
                </a:moveTo>
                <a:lnTo>
                  <a:pt x="10334867" y="0"/>
                </a:lnTo>
                <a:lnTo>
                  <a:pt x="10334867" y="9338961"/>
                </a:lnTo>
                <a:lnTo>
                  <a:pt x="0" y="933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-511746"/>
            <a:ext cx="18288000" cy="15157881"/>
          </a:xfrm>
          <a:custGeom>
            <a:avLst/>
            <a:gdLst/>
            <a:ahLst/>
            <a:cxnLst/>
            <a:rect l="l" t="t" r="r" b="b"/>
            <a:pathLst>
              <a:path w="18288000" h="15157881">
                <a:moveTo>
                  <a:pt x="0" y="0"/>
                </a:moveTo>
                <a:lnTo>
                  <a:pt x="18288000" y="0"/>
                </a:lnTo>
                <a:lnTo>
                  <a:pt x="18288000" y="15157881"/>
                </a:lnTo>
                <a:lnTo>
                  <a:pt x="0" y="15157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879" b="-1879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934252" y="7613793"/>
            <a:ext cx="385546" cy="376632"/>
            <a:chOff x="0" y="0"/>
            <a:chExt cx="832038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32038" cy="812800"/>
            </a:xfrm>
            <a:custGeom>
              <a:avLst/>
              <a:gdLst/>
              <a:ahLst/>
              <a:cxnLst/>
              <a:rect l="l" t="t" r="r" b="b"/>
              <a:pathLst>
                <a:path w="832038" h="812800">
                  <a:moveTo>
                    <a:pt x="832038" y="406400"/>
                  </a:moveTo>
                  <a:lnTo>
                    <a:pt x="425638" y="0"/>
                  </a:lnTo>
                  <a:lnTo>
                    <a:pt x="42563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25638" y="609600"/>
                  </a:lnTo>
                  <a:lnTo>
                    <a:pt x="425638" y="812800"/>
                  </a:lnTo>
                  <a:lnTo>
                    <a:pt x="832038" y="4064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46050"/>
              <a:ext cx="730438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667929" y="981075"/>
            <a:ext cx="3280945" cy="4666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El Dashboard centraliza toda la información clave en un único panel : 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Power Level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Rankings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Estadísticas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Análisis IA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Insignias Desbloqueadas</a:t>
            </a:r>
          </a:p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endParaRPr lang="en-US" sz="1899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lin ang="0"/>
              </a:gra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6215576" y="3671570"/>
            <a:ext cx="228863" cy="320088"/>
          </a:xfrm>
          <a:custGeom>
            <a:avLst/>
            <a:gdLst/>
            <a:ahLst/>
            <a:cxnLst/>
            <a:rect l="l" t="t" r="r" b="b"/>
            <a:pathLst>
              <a:path w="228863" h="320088">
                <a:moveTo>
                  <a:pt x="0" y="0"/>
                </a:moveTo>
                <a:lnTo>
                  <a:pt x="228863" y="0"/>
                </a:lnTo>
                <a:lnTo>
                  <a:pt x="228863" y="320088"/>
                </a:lnTo>
                <a:lnTo>
                  <a:pt x="0" y="3200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767140" y="5024133"/>
            <a:ext cx="228863" cy="320088"/>
          </a:xfrm>
          <a:custGeom>
            <a:avLst/>
            <a:gdLst/>
            <a:ahLst/>
            <a:cxnLst/>
            <a:rect l="l" t="t" r="r" b="b"/>
            <a:pathLst>
              <a:path w="228863" h="320088">
                <a:moveTo>
                  <a:pt x="0" y="0"/>
                </a:moveTo>
                <a:lnTo>
                  <a:pt x="228863" y="0"/>
                </a:lnTo>
                <a:lnTo>
                  <a:pt x="228863" y="320088"/>
                </a:lnTo>
                <a:lnTo>
                  <a:pt x="0" y="3200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172364" y="4325033"/>
            <a:ext cx="272074" cy="320088"/>
          </a:xfrm>
          <a:custGeom>
            <a:avLst/>
            <a:gdLst/>
            <a:ahLst/>
            <a:cxnLst/>
            <a:rect l="l" t="t" r="r" b="b"/>
            <a:pathLst>
              <a:path w="272074" h="320088">
                <a:moveTo>
                  <a:pt x="0" y="0"/>
                </a:moveTo>
                <a:lnTo>
                  <a:pt x="272075" y="0"/>
                </a:lnTo>
                <a:lnTo>
                  <a:pt x="272075" y="320087"/>
                </a:lnTo>
                <a:lnTo>
                  <a:pt x="0" y="3200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422663" y="5647690"/>
            <a:ext cx="272074" cy="320088"/>
          </a:xfrm>
          <a:custGeom>
            <a:avLst/>
            <a:gdLst/>
            <a:ahLst/>
            <a:cxnLst/>
            <a:rect l="l" t="t" r="r" b="b"/>
            <a:pathLst>
              <a:path w="272074" h="320088">
                <a:moveTo>
                  <a:pt x="0" y="0"/>
                </a:moveTo>
                <a:lnTo>
                  <a:pt x="272074" y="0"/>
                </a:lnTo>
                <a:lnTo>
                  <a:pt x="272074" y="320088"/>
                </a:lnTo>
                <a:lnTo>
                  <a:pt x="0" y="320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799915" y="5012449"/>
            <a:ext cx="233664" cy="320088"/>
          </a:xfrm>
          <a:custGeom>
            <a:avLst/>
            <a:gdLst/>
            <a:ahLst/>
            <a:cxnLst/>
            <a:rect l="l" t="t" r="r" b="b"/>
            <a:pathLst>
              <a:path w="233664" h="320088">
                <a:moveTo>
                  <a:pt x="0" y="0"/>
                </a:moveTo>
                <a:lnTo>
                  <a:pt x="233664" y="0"/>
                </a:lnTo>
                <a:lnTo>
                  <a:pt x="233664" y="320088"/>
                </a:lnTo>
                <a:lnTo>
                  <a:pt x="0" y="320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4617577" y="7613793"/>
            <a:ext cx="233664" cy="320088"/>
          </a:xfrm>
          <a:custGeom>
            <a:avLst/>
            <a:gdLst/>
            <a:ahLst/>
            <a:cxnLst/>
            <a:rect l="l" t="t" r="r" b="b"/>
            <a:pathLst>
              <a:path w="233664" h="320088">
                <a:moveTo>
                  <a:pt x="0" y="0"/>
                </a:moveTo>
                <a:lnTo>
                  <a:pt x="233664" y="0"/>
                </a:lnTo>
                <a:lnTo>
                  <a:pt x="233664" y="320087"/>
                </a:lnTo>
                <a:lnTo>
                  <a:pt x="0" y="3200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5548300" y="4188288"/>
            <a:ext cx="131236" cy="320088"/>
          </a:xfrm>
          <a:custGeom>
            <a:avLst/>
            <a:gdLst/>
            <a:ahLst/>
            <a:cxnLst/>
            <a:rect l="l" t="t" r="r" b="b"/>
            <a:pathLst>
              <a:path w="131236" h="320088">
                <a:moveTo>
                  <a:pt x="0" y="0"/>
                </a:moveTo>
                <a:lnTo>
                  <a:pt x="131236" y="0"/>
                </a:lnTo>
                <a:lnTo>
                  <a:pt x="131236" y="320088"/>
                </a:lnTo>
                <a:lnTo>
                  <a:pt x="0" y="3200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215576" y="3018107"/>
            <a:ext cx="236865" cy="320088"/>
          </a:xfrm>
          <a:custGeom>
            <a:avLst/>
            <a:gdLst/>
            <a:ahLst/>
            <a:cxnLst/>
            <a:rect l="l" t="t" r="r" b="b"/>
            <a:pathLst>
              <a:path w="236865" h="320088">
                <a:moveTo>
                  <a:pt x="0" y="0"/>
                </a:moveTo>
                <a:lnTo>
                  <a:pt x="236865" y="0"/>
                </a:lnTo>
                <a:lnTo>
                  <a:pt x="236865" y="320088"/>
                </a:lnTo>
                <a:lnTo>
                  <a:pt x="0" y="3200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6215576" y="2303599"/>
            <a:ext cx="131236" cy="320088"/>
          </a:xfrm>
          <a:custGeom>
            <a:avLst/>
            <a:gdLst/>
            <a:ahLst/>
            <a:cxnLst/>
            <a:rect l="l" t="t" r="r" b="b"/>
            <a:pathLst>
              <a:path w="131236" h="320088">
                <a:moveTo>
                  <a:pt x="0" y="0"/>
                </a:moveTo>
                <a:lnTo>
                  <a:pt x="131236" y="0"/>
                </a:lnTo>
                <a:lnTo>
                  <a:pt x="131236" y="320087"/>
                </a:lnTo>
                <a:lnTo>
                  <a:pt x="0" y="3200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686009" y="3176102"/>
            <a:ext cx="236865" cy="320088"/>
          </a:xfrm>
          <a:custGeom>
            <a:avLst/>
            <a:gdLst/>
            <a:ahLst/>
            <a:cxnLst/>
            <a:rect l="l" t="t" r="r" b="b"/>
            <a:pathLst>
              <a:path w="236865" h="320088">
                <a:moveTo>
                  <a:pt x="0" y="0"/>
                </a:moveTo>
                <a:lnTo>
                  <a:pt x="236865" y="0"/>
                </a:lnTo>
                <a:lnTo>
                  <a:pt x="236865" y="320088"/>
                </a:lnTo>
                <a:lnTo>
                  <a:pt x="0" y="3200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265581" y="7566135"/>
            <a:ext cx="4568256" cy="1332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Visualiza el progreso de cada jugador:</a:t>
            </a:r>
          </a:p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Partidos registrados</a:t>
            </a:r>
          </a:p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Torneos activos</a:t>
            </a:r>
          </a:p>
          <a:p>
            <a:pPr marL="0" lvl="0" indent="0" algn="l">
              <a:lnSpc>
                <a:spcPts val="2658"/>
              </a:lnSpc>
              <a:spcBef>
                <a:spcPct val="0"/>
              </a:spcBef>
            </a:pPr>
            <a:r>
              <a:rPr lang="en-US" sz="18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Detección de anomalías en tiempo real.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22804" y="7566168"/>
            <a:ext cx="3416223" cy="133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Consulta tus dudas con IA con el reglamento de padel oficial de la Federación Española de Padel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667929" y="258230"/>
            <a:ext cx="3365650" cy="549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08"/>
              </a:lnSpc>
              <a:spcBef>
                <a:spcPct val="0"/>
              </a:spcBef>
            </a:pPr>
            <a:r>
              <a:rPr lang="en-US" sz="314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62329" y="1812071"/>
            <a:ext cx="363341" cy="3633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32818" y="1028700"/>
            <a:ext cx="9779271" cy="4477120"/>
          </a:xfrm>
          <a:custGeom>
            <a:avLst/>
            <a:gdLst/>
            <a:ahLst/>
            <a:cxnLst/>
            <a:rect l="l" t="t" r="r" b="b"/>
            <a:pathLst>
              <a:path w="9779271" h="4477120">
                <a:moveTo>
                  <a:pt x="0" y="0"/>
                </a:moveTo>
                <a:lnTo>
                  <a:pt x="9779271" y="0"/>
                </a:lnTo>
                <a:lnTo>
                  <a:pt x="9779271" y="4477120"/>
                </a:lnTo>
                <a:lnTo>
                  <a:pt x="0" y="44771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321" t="-19002" r="-25616" b="-40019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741658" y="6652149"/>
            <a:ext cx="3168025" cy="3389846"/>
          </a:xfrm>
          <a:custGeom>
            <a:avLst/>
            <a:gdLst/>
            <a:ahLst/>
            <a:cxnLst/>
            <a:rect l="l" t="t" r="r" b="b"/>
            <a:pathLst>
              <a:path w="3168025" h="3389846">
                <a:moveTo>
                  <a:pt x="0" y="0"/>
                </a:moveTo>
                <a:lnTo>
                  <a:pt x="3168025" y="0"/>
                </a:lnTo>
                <a:lnTo>
                  <a:pt x="3168025" y="3389846"/>
                </a:lnTo>
                <a:lnTo>
                  <a:pt x="0" y="3389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971" t="-153800" r="-264568" b="-38720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198571" y="4641832"/>
            <a:ext cx="6800348" cy="5400163"/>
          </a:xfrm>
          <a:custGeom>
            <a:avLst/>
            <a:gdLst/>
            <a:ahLst/>
            <a:cxnLst/>
            <a:rect l="l" t="t" r="r" b="b"/>
            <a:pathLst>
              <a:path w="6800348" h="5400163">
                <a:moveTo>
                  <a:pt x="0" y="0"/>
                </a:moveTo>
                <a:lnTo>
                  <a:pt x="6800348" y="0"/>
                </a:lnTo>
                <a:lnTo>
                  <a:pt x="6800348" y="5400163"/>
                </a:lnTo>
                <a:lnTo>
                  <a:pt x="0" y="5400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582" t="-208604" r="-39480" b="-14565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2818" y="6644333"/>
            <a:ext cx="6643375" cy="1773940"/>
          </a:xfrm>
          <a:custGeom>
            <a:avLst/>
            <a:gdLst/>
            <a:ahLst/>
            <a:cxnLst/>
            <a:rect l="l" t="t" r="r" b="b"/>
            <a:pathLst>
              <a:path w="6643375" h="1773940">
                <a:moveTo>
                  <a:pt x="0" y="0"/>
                </a:moveTo>
                <a:lnTo>
                  <a:pt x="6643375" y="0"/>
                </a:lnTo>
                <a:lnTo>
                  <a:pt x="6643375" y="1773939"/>
                </a:lnTo>
                <a:lnTo>
                  <a:pt x="0" y="1773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196" t="-500724" r="-37668" b="-72544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711064" y="450849"/>
            <a:ext cx="3822779" cy="35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Radar de Habilidades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31166" y="6144504"/>
            <a:ext cx="1989009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DE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Golpe Definitivo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07650" y="1764446"/>
            <a:ext cx="6103887" cy="133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Perfil completo del jugador con 19 estadísticas, Power Level calculado, fortalezas y debilidades detectadas y plan de mejora personalizado generado por Gemini AI.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20268" y="583558"/>
            <a:ext cx="6491268" cy="67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PERFIL JUGADOR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1736" y="6144504"/>
            <a:ext cx="6634457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C1FF7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Fortalezas </a:t>
            </a:r>
            <a:r>
              <a:rPr lang="en-US" sz="1599" b="1">
                <a:solidFill>
                  <a:srgbClr val="FFDE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</a:t>
            </a:r>
            <a:r>
              <a:rPr lang="en-US" sz="1599" b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599" b="1">
                <a:solidFill>
                  <a:srgbClr val="FF575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Debilidades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98571" y="4075076"/>
            <a:ext cx="672204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18A7E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Plan de Mejora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79959" y="4542674"/>
            <a:ext cx="9037302" cy="7525608"/>
          </a:xfrm>
          <a:custGeom>
            <a:avLst/>
            <a:gdLst/>
            <a:ahLst/>
            <a:cxnLst/>
            <a:rect l="l" t="t" r="r" b="b"/>
            <a:pathLst>
              <a:path w="9037302" h="7525608">
                <a:moveTo>
                  <a:pt x="0" y="0"/>
                </a:moveTo>
                <a:lnTo>
                  <a:pt x="9037303" y="0"/>
                </a:lnTo>
                <a:lnTo>
                  <a:pt x="9037303" y="7525608"/>
                </a:lnTo>
                <a:lnTo>
                  <a:pt x="0" y="7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4427597"/>
            <a:ext cx="7290592" cy="4105026"/>
          </a:xfrm>
          <a:custGeom>
            <a:avLst/>
            <a:gdLst/>
            <a:ahLst/>
            <a:cxnLst/>
            <a:rect l="l" t="t" r="r" b="b"/>
            <a:pathLst>
              <a:path w="7290592" h="4105026">
                <a:moveTo>
                  <a:pt x="0" y="0"/>
                </a:moveTo>
                <a:lnTo>
                  <a:pt x="7290592" y="0"/>
                </a:lnTo>
                <a:lnTo>
                  <a:pt x="7290592" y="4105026"/>
                </a:lnTo>
                <a:lnTo>
                  <a:pt x="0" y="4105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154" t="-138097" r="-37385" b="-38711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68576" y="4427597"/>
            <a:ext cx="7360220" cy="4105026"/>
          </a:xfrm>
          <a:custGeom>
            <a:avLst/>
            <a:gdLst/>
            <a:ahLst/>
            <a:cxnLst/>
            <a:rect l="l" t="t" r="r" b="b"/>
            <a:pathLst>
              <a:path w="7360220" h="4105026">
                <a:moveTo>
                  <a:pt x="0" y="0"/>
                </a:moveTo>
                <a:lnTo>
                  <a:pt x="7360220" y="0"/>
                </a:lnTo>
                <a:lnTo>
                  <a:pt x="7360220" y="4105026"/>
                </a:lnTo>
                <a:lnTo>
                  <a:pt x="0" y="4105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67" t="-315275" r="-2390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841024" y="7472326"/>
            <a:ext cx="285371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gradFill>
                  <a:gsLst>
                    <a:gs pos="15000">
                      <a:srgbClr val="FE8356">
                        <a:alpha val="100000"/>
                      </a:srgbClr>
                    </a:gs>
                    <a:gs pos="50000">
                      <a:srgbClr val="FFEE22">
                        <a:alpha val="100000"/>
                      </a:srgbClr>
                    </a:gs>
                    <a:gs pos="85000">
                      <a:srgbClr val="A4F402">
                        <a:alpha val="100000"/>
                      </a:srgbClr>
                    </a:gs>
                  </a:gsLst>
                  <a:lin ang="1890000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Insignias Desbloqueadas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56170" y="3790434"/>
            <a:ext cx="2898624" cy="35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Historial de Partidos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35392" y="2099189"/>
            <a:ext cx="11817216" cy="32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03"/>
              </a:lnSpc>
              <a:spcBef>
                <a:spcPct val="0"/>
              </a:spcBef>
            </a:pPr>
            <a:r>
              <a:rPr lang="en-US" sz="1859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Historial de Partidos, Evolución del jugador con su rendimiento en tiempo real e Insignias Desbloqueadas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65767" y="3790434"/>
            <a:ext cx="2898624" cy="35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Evolución del jugador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47355" y="649604"/>
            <a:ext cx="7642442" cy="67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PERFIL JUGADOR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69349" y="6294688"/>
            <a:ext cx="9037302" cy="7525608"/>
          </a:xfrm>
          <a:custGeom>
            <a:avLst/>
            <a:gdLst/>
            <a:ahLst/>
            <a:cxnLst/>
            <a:rect l="l" t="t" r="r" b="b"/>
            <a:pathLst>
              <a:path w="9037302" h="7525608">
                <a:moveTo>
                  <a:pt x="0" y="0"/>
                </a:moveTo>
                <a:lnTo>
                  <a:pt x="9037302" y="0"/>
                </a:lnTo>
                <a:lnTo>
                  <a:pt x="9037302" y="7525609"/>
                </a:lnTo>
                <a:lnTo>
                  <a:pt x="0" y="75256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522296" y="-5814196"/>
            <a:ext cx="10334866" cy="9338961"/>
          </a:xfrm>
          <a:custGeom>
            <a:avLst/>
            <a:gdLst/>
            <a:ahLst/>
            <a:cxnLst/>
            <a:rect l="l" t="t" r="r" b="b"/>
            <a:pathLst>
              <a:path w="10334866" h="9338961">
                <a:moveTo>
                  <a:pt x="0" y="0"/>
                </a:moveTo>
                <a:lnTo>
                  <a:pt x="10334867" y="0"/>
                </a:lnTo>
                <a:lnTo>
                  <a:pt x="10334867" y="9338961"/>
                </a:lnTo>
                <a:lnTo>
                  <a:pt x="0" y="9338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7684" y="535988"/>
            <a:ext cx="13047822" cy="9215025"/>
          </a:xfrm>
          <a:custGeom>
            <a:avLst/>
            <a:gdLst/>
            <a:ahLst/>
            <a:cxnLst/>
            <a:rect l="l" t="t" r="r" b="b"/>
            <a:pathLst>
              <a:path w="13047822" h="9215025">
                <a:moveTo>
                  <a:pt x="0" y="0"/>
                </a:moveTo>
                <a:lnTo>
                  <a:pt x="13047822" y="0"/>
                </a:lnTo>
                <a:lnTo>
                  <a:pt x="13047822" y="9215024"/>
                </a:lnTo>
                <a:lnTo>
                  <a:pt x="0" y="9215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048166" y="3024900"/>
            <a:ext cx="2904946" cy="26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80"/>
              </a:lnSpc>
              <a:spcBef>
                <a:spcPct val="0"/>
              </a:spcBef>
            </a:pPr>
            <a:r>
              <a:rPr lang="en-US" sz="1557" b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Análisis IA Narrativo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048166" y="4023943"/>
            <a:ext cx="3311546" cy="26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80"/>
              </a:lnSpc>
              <a:spcBef>
                <a:spcPct val="0"/>
              </a:spcBef>
            </a:pPr>
            <a:r>
              <a:rPr lang="en-US" sz="1557" b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Plan de Mejora 3 Fases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48166" y="2025857"/>
            <a:ext cx="3129843" cy="26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80"/>
              </a:lnSpc>
              <a:spcBef>
                <a:spcPct val="0"/>
              </a:spcBef>
            </a:pPr>
            <a:r>
              <a:rPr lang="en-US" sz="1557" b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Gráficos Radar Hexagonales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48166" y="5022986"/>
            <a:ext cx="2771495" cy="265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80"/>
              </a:lnSpc>
              <a:spcBef>
                <a:spcPct val="0"/>
              </a:spcBef>
            </a:pPr>
            <a:r>
              <a:rPr lang="en-US" sz="1557" b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Exportación Segura JWT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48166" y="5859959"/>
            <a:ext cx="3910780" cy="79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80"/>
              </a:lnSpc>
              <a:spcBef>
                <a:spcPct val="0"/>
              </a:spcBef>
            </a:pPr>
            <a:r>
              <a:rPr lang="en-US" sz="1557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Generación rápida del informe con token JWT. Exportación segura, profesional y personalizada para cada jugador.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48166" y="1100031"/>
            <a:ext cx="3910780" cy="54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80"/>
              </a:lnSpc>
              <a:spcBef>
                <a:spcPct val="0"/>
              </a:spcBef>
            </a:pPr>
            <a:r>
              <a:rPr lang="en-US" sz="1557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Análisis completo con IA Gemini, estadísticas avanzadas y plan de mejora.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48166" y="497888"/>
            <a:ext cx="3414982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Informe PDF Profesional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62261">
            <a:off x="-4001062" y="-5573497"/>
            <a:ext cx="9505042" cy="8589101"/>
          </a:xfrm>
          <a:custGeom>
            <a:avLst/>
            <a:gdLst/>
            <a:ahLst/>
            <a:cxnLst/>
            <a:rect l="l" t="t" r="r" b="b"/>
            <a:pathLst>
              <a:path w="9505042" h="8589101">
                <a:moveTo>
                  <a:pt x="0" y="0"/>
                </a:moveTo>
                <a:lnTo>
                  <a:pt x="9505041" y="0"/>
                </a:lnTo>
                <a:lnTo>
                  <a:pt x="9505041" y="8589101"/>
                </a:lnTo>
                <a:lnTo>
                  <a:pt x="0" y="8589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3331077"/>
            <a:ext cx="7249694" cy="6059117"/>
          </a:xfrm>
          <a:custGeom>
            <a:avLst/>
            <a:gdLst/>
            <a:ahLst/>
            <a:cxnLst/>
            <a:rect l="l" t="t" r="r" b="b"/>
            <a:pathLst>
              <a:path w="7249694" h="6059117">
                <a:moveTo>
                  <a:pt x="0" y="0"/>
                </a:moveTo>
                <a:lnTo>
                  <a:pt x="7249694" y="0"/>
                </a:lnTo>
                <a:lnTo>
                  <a:pt x="7249694" y="6059117"/>
                </a:lnTo>
                <a:lnTo>
                  <a:pt x="0" y="6059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298" r="-3728" b="-9006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74949" y="3331077"/>
            <a:ext cx="7566909" cy="6059117"/>
          </a:xfrm>
          <a:custGeom>
            <a:avLst/>
            <a:gdLst/>
            <a:ahLst/>
            <a:cxnLst/>
            <a:rect l="l" t="t" r="r" b="b"/>
            <a:pathLst>
              <a:path w="7566909" h="6059117">
                <a:moveTo>
                  <a:pt x="0" y="0"/>
                </a:moveTo>
                <a:lnTo>
                  <a:pt x="7566909" y="0"/>
                </a:lnTo>
                <a:lnTo>
                  <a:pt x="7566909" y="6059117"/>
                </a:lnTo>
                <a:lnTo>
                  <a:pt x="0" y="6059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987" t="-113209" r="-8220" b="-25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151845" y="7594692"/>
            <a:ext cx="1720461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gradFill>
                  <a:gsLst>
                    <a:gs pos="15000">
                      <a:srgbClr val="FE8356">
                        <a:alpha val="100000"/>
                      </a:srgbClr>
                    </a:gs>
                    <a:gs pos="50000">
                      <a:srgbClr val="FFEE22">
                        <a:alpha val="100000"/>
                      </a:srgbClr>
                    </a:gs>
                    <a:gs pos="85000">
                      <a:srgbClr val="A4F402">
                        <a:alpha val="100000"/>
                      </a:srgbClr>
                    </a:gs>
                  </a:gsLst>
                  <a:lin ang="1890000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Filtros Avanzados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26690" y="2892523"/>
            <a:ext cx="285371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Ranking Global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00813" y="7246868"/>
            <a:ext cx="2271492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gradFill>
                  <a:gsLst>
                    <a:gs pos="15000">
                      <a:srgbClr val="F95BF6">
                        <a:alpha val="100000"/>
                      </a:srgbClr>
                    </a:gs>
                    <a:gs pos="50000">
                      <a:srgbClr val="532CF9">
                        <a:alpha val="100000"/>
                      </a:srgbClr>
                    </a:gs>
                    <a:gs pos="85000">
                      <a:srgbClr val="03F7EB">
                        <a:alpha val="100000"/>
                      </a:srgbClr>
                    </a:gs>
                  </a:gsLst>
                  <a:lin ang="1890000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Ranking y Comparador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31547" y="2892523"/>
            <a:ext cx="2853714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0"/>
              </a:lnSpc>
              <a:spcBef>
                <a:spcPct val="0"/>
              </a:spcBef>
            </a:pPr>
            <a:r>
              <a:rPr lang="en-US" sz="1500" b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Métricas FEP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1159" y="1834377"/>
            <a:ext cx="14690840" cy="31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 u="none" strike="noStrike">
                <a:gradFill>
                  <a:gsLst>
                    <a:gs pos="0">
                      <a:srgbClr val="E894FF">
                        <a:alpha val="100000"/>
                      </a:srgbClr>
                    </a:gs>
                    <a:gs pos="100000">
                      <a:srgbClr val="FF6A92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Ranking global con filtros por categoría, nivel y club. Comparación directa entre jugadores con métricas objetivas y Power Level.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28058" y="649605"/>
            <a:ext cx="8831883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ESTADÍSTICAS GLOBALES</a:t>
            </a:r>
          </a:p>
        </p:txBody>
      </p:sp>
      <p:sp>
        <p:nvSpPr>
          <p:cNvPr id="11" name="Freeform 11"/>
          <p:cNvSpPr/>
          <p:nvPr/>
        </p:nvSpPr>
        <p:spPr>
          <a:xfrm rot="-10800000">
            <a:off x="11838841" y="-6561143"/>
            <a:ext cx="10334866" cy="9338961"/>
          </a:xfrm>
          <a:custGeom>
            <a:avLst/>
            <a:gdLst/>
            <a:ahLst/>
            <a:cxnLst/>
            <a:rect l="l" t="t" r="r" b="b"/>
            <a:pathLst>
              <a:path w="10334866" h="9338961">
                <a:moveTo>
                  <a:pt x="0" y="0"/>
                </a:moveTo>
                <a:lnTo>
                  <a:pt x="10334866" y="0"/>
                </a:lnTo>
                <a:lnTo>
                  <a:pt x="10334866" y="9338961"/>
                </a:lnTo>
                <a:lnTo>
                  <a:pt x="0" y="9338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328486" y="-6355119"/>
            <a:ext cx="10244948" cy="11701254"/>
          </a:xfrm>
          <a:custGeom>
            <a:avLst/>
            <a:gdLst/>
            <a:ahLst/>
            <a:cxnLst/>
            <a:rect l="l" t="t" r="r" b="b"/>
            <a:pathLst>
              <a:path w="10244948" h="11701254">
                <a:moveTo>
                  <a:pt x="0" y="0"/>
                </a:moveTo>
                <a:lnTo>
                  <a:pt x="10244948" y="0"/>
                </a:lnTo>
                <a:lnTo>
                  <a:pt x="10244948" y="11701255"/>
                </a:lnTo>
                <a:lnTo>
                  <a:pt x="0" y="11701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25345" y="1194721"/>
            <a:ext cx="7478970" cy="8063579"/>
          </a:xfrm>
          <a:custGeom>
            <a:avLst/>
            <a:gdLst/>
            <a:ahLst/>
            <a:cxnLst/>
            <a:rect l="l" t="t" r="r" b="b"/>
            <a:pathLst>
              <a:path w="7478970" h="8063579">
                <a:moveTo>
                  <a:pt x="0" y="0"/>
                </a:moveTo>
                <a:lnTo>
                  <a:pt x="7478970" y="0"/>
                </a:lnTo>
                <a:lnTo>
                  <a:pt x="7478970" y="8063579"/>
                </a:lnTo>
                <a:lnTo>
                  <a:pt x="0" y="8063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04964" y="3241855"/>
            <a:ext cx="4120291" cy="6016445"/>
          </a:xfrm>
          <a:custGeom>
            <a:avLst/>
            <a:gdLst/>
            <a:ahLst/>
            <a:cxnLst/>
            <a:rect l="l" t="t" r="r" b="b"/>
            <a:pathLst>
              <a:path w="4120291" h="6016445">
                <a:moveTo>
                  <a:pt x="0" y="0"/>
                </a:moveTo>
                <a:lnTo>
                  <a:pt x="4120291" y="0"/>
                </a:lnTo>
                <a:lnTo>
                  <a:pt x="4120291" y="6016445"/>
                </a:lnTo>
                <a:lnTo>
                  <a:pt x="0" y="6016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93988" y="7266422"/>
            <a:ext cx="1710064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 b="1">
                <a:solidFill>
                  <a:srgbClr val="38B6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Análisis IA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04964" y="681331"/>
            <a:ext cx="2060145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35"/>
              </a:lnSpc>
              <a:spcBef>
                <a:spcPct val="0"/>
              </a:spcBef>
            </a:pPr>
            <a:r>
              <a:rPr lang="en-US" sz="2454" b="1">
                <a:solidFill>
                  <a:srgbClr val="C1FF7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Chatbot RAG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3988" y="7930614"/>
            <a:ext cx="3711802" cy="1259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Análisis profundo del jugador con planes de mejora personalizados en 3 fases y proyección automática del Power Level.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04964" y="1371470"/>
            <a:ext cx="4120291" cy="157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Chatbot RAG para consultas reglamentarias de pádel.</a:t>
            </a:r>
          </a:p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endParaRPr lang="en-US" sz="1798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>
              <a:lnSpc>
                <a:spcPts val="2518"/>
              </a:lnSpc>
              <a:spcBef>
                <a:spcPct val="0"/>
              </a:spcBef>
            </a:pPr>
            <a:r>
              <a:rPr lang="en-US" sz="1798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Respuestas precisas basadas en el reglamento oficial.</a:t>
            </a:r>
          </a:p>
        </p:txBody>
      </p:sp>
      <p:sp>
        <p:nvSpPr>
          <p:cNvPr id="9" name="Freeform 9"/>
          <p:cNvSpPr/>
          <p:nvPr/>
        </p:nvSpPr>
        <p:spPr>
          <a:xfrm rot="-10800000">
            <a:off x="17039078" y="5421182"/>
            <a:ext cx="4695588" cy="5690109"/>
          </a:xfrm>
          <a:custGeom>
            <a:avLst/>
            <a:gdLst/>
            <a:ahLst/>
            <a:cxnLst/>
            <a:rect l="l" t="t" r="r" b="b"/>
            <a:pathLst>
              <a:path w="4695588" h="5690109">
                <a:moveTo>
                  <a:pt x="0" y="0"/>
                </a:moveTo>
                <a:lnTo>
                  <a:pt x="4695588" y="0"/>
                </a:lnTo>
                <a:lnTo>
                  <a:pt x="4695588" y="5690109"/>
                </a:lnTo>
                <a:lnTo>
                  <a:pt x="0" y="5690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98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12571" y="4961829"/>
            <a:ext cx="363341" cy="3633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13837" y="4961829"/>
            <a:ext cx="363341" cy="36334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121439" y="2931534"/>
            <a:ext cx="3404168" cy="5080847"/>
          </a:xfrm>
          <a:custGeom>
            <a:avLst/>
            <a:gdLst/>
            <a:ahLst/>
            <a:cxnLst/>
            <a:rect l="l" t="t" r="r" b="b"/>
            <a:pathLst>
              <a:path w="3404168" h="5080847">
                <a:moveTo>
                  <a:pt x="0" y="0"/>
                </a:moveTo>
                <a:lnTo>
                  <a:pt x="3404167" y="0"/>
                </a:lnTo>
                <a:lnTo>
                  <a:pt x="3404167" y="5080848"/>
                </a:lnTo>
                <a:lnTo>
                  <a:pt x="0" y="5080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4403" y="2931534"/>
            <a:ext cx="3459300" cy="5080847"/>
          </a:xfrm>
          <a:custGeom>
            <a:avLst/>
            <a:gdLst/>
            <a:ahLst/>
            <a:cxnLst/>
            <a:rect l="l" t="t" r="r" b="b"/>
            <a:pathLst>
              <a:path w="3459300" h="5080847">
                <a:moveTo>
                  <a:pt x="0" y="0"/>
                </a:moveTo>
                <a:lnTo>
                  <a:pt x="3459301" y="0"/>
                </a:lnTo>
                <a:lnTo>
                  <a:pt x="3459301" y="5080848"/>
                </a:lnTo>
                <a:lnTo>
                  <a:pt x="0" y="5080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37986" y="2931534"/>
            <a:ext cx="3791292" cy="5080847"/>
          </a:xfrm>
          <a:custGeom>
            <a:avLst/>
            <a:gdLst/>
            <a:ahLst/>
            <a:cxnLst/>
            <a:rect l="l" t="t" r="r" b="b"/>
            <a:pathLst>
              <a:path w="3791292" h="5080847">
                <a:moveTo>
                  <a:pt x="0" y="0"/>
                </a:moveTo>
                <a:lnTo>
                  <a:pt x="3791292" y="0"/>
                </a:lnTo>
                <a:lnTo>
                  <a:pt x="3791292" y="5080848"/>
                </a:lnTo>
                <a:lnTo>
                  <a:pt x="0" y="5080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937361" y="3764652"/>
            <a:ext cx="6473948" cy="2767613"/>
          </a:xfrm>
          <a:custGeom>
            <a:avLst/>
            <a:gdLst/>
            <a:ahLst/>
            <a:cxnLst/>
            <a:rect l="l" t="t" r="r" b="b"/>
            <a:pathLst>
              <a:path w="6473948" h="2767613">
                <a:moveTo>
                  <a:pt x="0" y="0"/>
                </a:moveTo>
                <a:lnTo>
                  <a:pt x="6473948" y="0"/>
                </a:lnTo>
                <a:lnTo>
                  <a:pt x="6473948" y="2767613"/>
                </a:lnTo>
                <a:lnTo>
                  <a:pt x="0" y="27676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005464" y="2931534"/>
            <a:ext cx="2996459" cy="5079283"/>
          </a:xfrm>
          <a:custGeom>
            <a:avLst/>
            <a:gdLst/>
            <a:ahLst/>
            <a:cxnLst/>
            <a:rect l="l" t="t" r="r" b="b"/>
            <a:pathLst>
              <a:path w="2996459" h="5079283">
                <a:moveTo>
                  <a:pt x="0" y="0"/>
                </a:moveTo>
                <a:lnTo>
                  <a:pt x="2996458" y="0"/>
                </a:lnTo>
                <a:lnTo>
                  <a:pt x="2996458" y="5079283"/>
                </a:lnTo>
                <a:lnTo>
                  <a:pt x="0" y="5079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0092" t="-209384" r="-307782" b="-153158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568145" y="2186172"/>
            <a:ext cx="3212380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POWER LEVEL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85714" y="2273803"/>
            <a:ext cx="285371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FFDE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Gohan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FFDE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SSJ2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206775" y="2273803"/>
            <a:ext cx="285371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FF575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Goku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FF575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SSJ4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5114" y="664648"/>
            <a:ext cx="5318408" cy="999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59"/>
              </a:lnSpc>
              <a:spcBef>
                <a:spcPct val="0"/>
              </a:spcBef>
            </a:pPr>
            <a:r>
              <a:rPr lang="en-US" sz="18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El sistema transforma estadísticas reales de pádel en un Power Level inspirado en Dragon Ball Z, reflejando el nivel real de cada jugador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11918" y="664648"/>
            <a:ext cx="4230382" cy="66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Power Level: Inspiración Dragon Ball</a:t>
            </a:r>
          </a:p>
          <a:p>
            <a:pPr marL="0" lvl="0" indent="0" algn="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19 estadísticas reales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7197" y="2273803"/>
            <a:ext cx="285371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Mr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Satan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076836" y="2273803"/>
            <a:ext cx="2853714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Goku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Ultrainstinto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7143" y="2927482"/>
            <a:ext cx="285371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9999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5114" y="8183832"/>
            <a:ext cx="2853714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Nivel Iniciación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85714" y="8183832"/>
            <a:ext cx="2853714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FFDE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Nivel Medio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206775" y="8183832"/>
            <a:ext cx="2853714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solidFill>
                  <a:srgbClr val="FF5757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Nivel Alto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148209" y="8182267"/>
            <a:ext cx="2853714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b="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Medium"/>
                <a:ea typeface="Poppins Medium"/>
                <a:cs typeface="Poppins Medium"/>
                <a:sym typeface="Poppins Medium"/>
              </a:rPr>
              <a:t>Nivel Profesional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43067" y="4589814"/>
            <a:ext cx="9409333" cy="7322172"/>
          </a:xfrm>
          <a:custGeom>
            <a:avLst/>
            <a:gdLst/>
            <a:ahLst/>
            <a:cxnLst/>
            <a:rect l="l" t="t" r="r" b="b"/>
            <a:pathLst>
              <a:path w="9409333" h="7322172">
                <a:moveTo>
                  <a:pt x="0" y="0"/>
                </a:moveTo>
                <a:lnTo>
                  <a:pt x="9409333" y="0"/>
                </a:lnTo>
                <a:lnTo>
                  <a:pt x="9409333" y="7322172"/>
                </a:lnTo>
                <a:lnTo>
                  <a:pt x="0" y="7322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2460910" y="-3334898"/>
            <a:ext cx="12077233" cy="7202423"/>
          </a:xfrm>
          <a:custGeom>
            <a:avLst/>
            <a:gdLst/>
            <a:ahLst/>
            <a:cxnLst/>
            <a:rect l="l" t="t" r="r" b="b"/>
            <a:pathLst>
              <a:path w="12077233" h="7202423">
                <a:moveTo>
                  <a:pt x="12077233" y="0"/>
                </a:moveTo>
                <a:lnTo>
                  <a:pt x="0" y="0"/>
                </a:lnTo>
                <a:lnTo>
                  <a:pt x="0" y="7202423"/>
                </a:lnTo>
                <a:lnTo>
                  <a:pt x="12077233" y="7202423"/>
                </a:lnTo>
                <a:lnTo>
                  <a:pt x="1207723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94300" y="4048500"/>
            <a:ext cx="2598564" cy="96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78"/>
              </a:lnSpc>
            </a:pPr>
            <a:r>
              <a:rPr lang="en-US" sz="5627" b="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FASE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94325" y="5422676"/>
            <a:ext cx="3259768" cy="248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Landing Page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Descubre Padel Scouter y accede al sistema.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5CE1E6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Login seguro con JWT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5CE1E6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Registro de jugador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5CE1E6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Acceso al Dashboard principal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44718" y="4048500"/>
            <a:ext cx="2670882" cy="904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78"/>
              </a:lnSpc>
            </a:pPr>
            <a:r>
              <a:rPr lang="en-US" sz="5627" b="1" dirty="0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FASE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44718" y="5353078"/>
            <a:ext cx="3259768" cy="303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Análisis y Seguimiento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Explora tu perfil y potencia tu juego con IA.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Perfil con radar de habilidades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Registro de partidos y torneos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Análisis IA con Google Gemini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FF66C4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FF66C4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Power Level actualizado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95136" y="4048500"/>
            <a:ext cx="2670882" cy="9041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878"/>
              </a:lnSpc>
            </a:pPr>
            <a:r>
              <a:rPr lang="en-US" sz="5627" b="1" dirty="0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FASE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95111" y="5422676"/>
            <a:ext cx="4170033" cy="2759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Resultados y Ranking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Obtén tu informe y compite globalmente.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Informe PDF profesional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Plan de mejora en 3 fases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Ranking global FEP</a:t>
            </a:r>
          </a:p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endParaRPr lang="en-US" sz="1599" u="none" strike="noStrike">
              <a:gradFill>
                <a:gsLst>
                  <a:gs pos="0">
                    <a:srgbClr val="0CC0DF">
                      <a:alpha val="100000"/>
                    </a:srgbClr>
                  </a:gs>
                  <a:gs pos="100000">
                    <a:srgbClr val="FFDE59">
                      <a:alpha val="100000"/>
                    </a:srgbClr>
                  </a:gs>
                </a:gsLst>
                <a:lin ang="0"/>
              </a:gradFill>
              <a:latin typeface="Tomorrow"/>
              <a:ea typeface="Tomorrow"/>
              <a:cs typeface="Tomorrow"/>
              <a:sym typeface="Tomorrow"/>
            </a:endParaRP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→ Badges y logros desbloqueados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44361" y="2501961"/>
            <a:ext cx="6999277" cy="932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190"/>
              </a:lnSpc>
            </a:pPr>
            <a:r>
              <a:rPr lang="en-US" sz="6363" spc="-687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FLUJO DE USO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9695" y="-1657555"/>
            <a:ext cx="9409333" cy="7322172"/>
          </a:xfrm>
          <a:custGeom>
            <a:avLst/>
            <a:gdLst/>
            <a:ahLst/>
            <a:cxnLst/>
            <a:rect l="l" t="t" r="r" b="b"/>
            <a:pathLst>
              <a:path w="9409333" h="7322172">
                <a:moveTo>
                  <a:pt x="0" y="0"/>
                </a:moveTo>
                <a:lnTo>
                  <a:pt x="9409333" y="0"/>
                </a:lnTo>
                <a:lnTo>
                  <a:pt x="9409333" y="7322171"/>
                </a:lnTo>
                <a:lnTo>
                  <a:pt x="0" y="7322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570905" y="4272969"/>
            <a:ext cx="8718996" cy="7625158"/>
          </a:xfrm>
          <a:custGeom>
            <a:avLst/>
            <a:gdLst/>
            <a:ahLst/>
            <a:cxnLst/>
            <a:rect l="l" t="t" r="r" b="b"/>
            <a:pathLst>
              <a:path w="8718996" h="7625158">
                <a:moveTo>
                  <a:pt x="8718996" y="0"/>
                </a:moveTo>
                <a:lnTo>
                  <a:pt x="0" y="0"/>
                </a:lnTo>
                <a:lnTo>
                  <a:pt x="0" y="7625158"/>
                </a:lnTo>
                <a:lnTo>
                  <a:pt x="8718996" y="7625158"/>
                </a:lnTo>
                <a:lnTo>
                  <a:pt x="87189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25970" y="6756456"/>
            <a:ext cx="6999277" cy="112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969"/>
              </a:lnSpc>
            </a:pPr>
            <a:r>
              <a:rPr lang="en-US" sz="6795" spc="-733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RESULTADOS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731077" y="2616909"/>
            <a:ext cx="6528223" cy="46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67"/>
              </a:lnSpc>
            </a:pPr>
            <a:r>
              <a:rPr lang="en-US" sz="2691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Unitarios con 82% de cobertura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06898" y="1927330"/>
            <a:ext cx="3791112" cy="68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70"/>
              </a:lnSpc>
            </a:pPr>
            <a:r>
              <a:rPr lang="en-US" sz="4050" b="1">
                <a:gradFill>
                  <a:gsLst>
                    <a:gs pos="0">
                      <a:srgbClr val="FFF7AD">
                        <a:alpha val="100000"/>
                      </a:srgbClr>
                    </a:gs>
                    <a:gs pos="100000">
                      <a:srgbClr val="FFA9F9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68 Tests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97905" y="5220691"/>
            <a:ext cx="6528223" cy="46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67"/>
              </a:lnSpc>
            </a:pPr>
            <a:r>
              <a:rPr lang="en-US" sz="269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Seguridad implementada + JWT Auth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92042" y="4455805"/>
            <a:ext cx="3947957" cy="652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70"/>
              </a:lnSpc>
            </a:pPr>
            <a:r>
              <a:rPr lang="en-US" sz="4050" b="1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OWASP Top 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8834" y="7824449"/>
            <a:ext cx="6564216" cy="465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67"/>
              </a:lnSpc>
            </a:pPr>
            <a:r>
              <a:rPr lang="en-US" sz="269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Despliegue en Supabase y Upstash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70905" y="6984717"/>
            <a:ext cx="3791112" cy="68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70"/>
              </a:lnSpc>
            </a:pPr>
            <a:r>
              <a:rPr lang="en-US" sz="4050" b="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 Bold"/>
                <a:ea typeface="Tomorrow Bold"/>
                <a:cs typeface="Tomorrow Bold"/>
                <a:sym typeface="Tomorrow Bold"/>
              </a:rPr>
              <a:t>Railway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011487" y="4270606"/>
            <a:ext cx="2704528" cy="2704528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9576037" y="4270606"/>
            <a:ext cx="2704528" cy="2704528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140588" y="4270606"/>
            <a:ext cx="2704528" cy="2704528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442884" y="4270606"/>
            <a:ext cx="2704528" cy="2704528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6350000"/>
                  </a:moveTo>
                  <a:lnTo>
                    <a:pt x="1270000" y="6350000"/>
                  </a:lnTo>
                  <a:cubicBezTo>
                    <a:pt x="568960" y="6350000"/>
                    <a:pt x="0" y="5781040"/>
                    <a:pt x="0" y="5080000"/>
                  </a:cubicBezTo>
                  <a:lnTo>
                    <a:pt x="0" y="1270000"/>
                  </a:lnTo>
                  <a:cubicBezTo>
                    <a:pt x="0" y="568960"/>
                    <a:pt x="568960" y="0"/>
                    <a:pt x="1270000" y="0"/>
                  </a:cubicBezTo>
                  <a:lnTo>
                    <a:pt x="5080000" y="0"/>
                  </a:lnTo>
                  <a:cubicBezTo>
                    <a:pt x="5781040" y="0"/>
                    <a:pt x="6350000" y="568960"/>
                    <a:pt x="6350000" y="1270000"/>
                  </a:cubicBezTo>
                  <a:lnTo>
                    <a:pt x="6350000" y="5080000"/>
                  </a:lnTo>
                  <a:cubicBezTo>
                    <a:pt x="6350000" y="5781040"/>
                    <a:pt x="5781040" y="6350000"/>
                    <a:pt x="5080000" y="635000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5080000" y="19050"/>
                  </a:moveTo>
                  <a:cubicBezTo>
                    <a:pt x="5769610" y="19050"/>
                    <a:pt x="6330950" y="580390"/>
                    <a:pt x="6330950" y="1270000"/>
                  </a:cubicBezTo>
                  <a:lnTo>
                    <a:pt x="6330950" y="5080000"/>
                  </a:lnTo>
                  <a:cubicBezTo>
                    <a:pt x="6330950" y="5769610"/>
                    <a:pt x="5769610" y="6330950"/>
                    <a:pt x="5080000" y="6330950"/>
                  </a:cubicBezTo>
                  <a:lnTo>
                    <a:pt x="1270000" y="6330950"/>
                  </a:lnTo>
                  <a:cubicBezTo>
                    <a:pt x="580390" y="6330950"/>
                    <a:pt x="19050" y="5769610"/>
                    <a:pt x="19050" y="5080000"/>
                  </a:cubicBezTo>
                  <a:lnTo>
                    <a:pt x="19050" y="1270000"/>
                  </a:lnTo>
                  <a:cubicBezTo>
                    <a:pt x="19050" y="580390"/>
                    <a:pt x="580390" y="19050"/>
                    <a:pt x="1270000" y="19050"/>
                  </a:cubicBezTo>
                  <a:lnTo>
                    <a:pt x="5080000" y="19050"/>
                  </a:lnTo>
                  <a:moveTo>
                    <a:pt x="5080000" y="0"/>
                  </a:moveTo>
                  <a:lnTo>
                    <a:pt x="1270000" y="0"/>
                  </a:lnTo>
                  <a:cubicBezTo>
                    <a:pt x="568960" y="0"/>
                    <a:pt x="0" y="568960"/>
                    <a:pt x="0" y="1270000"/>
                  </a:cubicBezTo>
                  <a:lnTo>
                    <a:pt x="0" y="5080000"/>
                  </a:lnTo>
                  <a:cubicBezTo>
                    <a:pt x="0" y="5781040"/>
                    <a:pt x="568960" y="6350000"/>
                    <a:pt x="1270000" y="6350000"/>
                  </a:cubicBezTo>
                  <a:lnTo>
                    <a:pt x="5080000" y="6350000"/>
                  </a:lnTo>
                  <a:cubicBezTo>
                    <a:pt x="5781040" y="6350000"/>
                    <a:pt x="6350000" y="5781040"/>
                    <a:pt x="6350000" y="5080000"/>
                  </a:cubicBezTo>
                  <a:lnTo>
                    <a:pt x="6350000" y="1270000"/>
                  </a:lnTo>
                  <a:cubicBezTo>
                    <a:pt x="6350000" y="568960"/>
                    <a:pt x="5781040" y="0"/>
                    <a:pt x="5080000" y="0"/>
                  </a:cubicBezTo>
                  <a:lnTo>
                    <a:pt x="508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-4292574" y="-2256106"/>
            <a:ext cx="9616419" cy="7028728"/>
          </a:xfrm>
          <a:custGeom>
            <a:avLst/>
            <a:gdLst/>
            <a:ahLst/>
            <a:cxnLst/>
            <a:rect l="l" t="t" r="r" b="b"/>
            <a:pathLst>
              <a:path w="9616419" h="7028728">
                <a:moveTo>
                  <a:pt x="0" y="0"/>
                </a:moveTo>
                <a:lnTo>
                  <a:pt x="9616419" y="0"/>
                </a:lnTo>
                <a:lnTo>
                  <a:pt x="9616419" y="7028729"/>
                </a:lnTo>
                <a:lnTo>
                  <a:pt x="0" y="7028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24379" y="-4193474"/>
            <a:ext cx="8701678" cy="7182840"/>
          </a:xfrm>
          <a:custGeom>
            <a:avLst/>
            <a:gdLst/>
            <a:ahLst/>
            <a:cxnLst/>
            <a:rect l="l" t="t" r="r" b="b"/>
            <a:pathLst>
              <a:path w="8701678" h="7182840">
                <a:moveTo>
                  <a:pt x="0" y="0"/>
                </a:moveTo>
                <a:lnTo>
                  <a:pt x="8701677" y="0"/>
                </a:lnTo>
                <a:lnTo>
                  <a:pt x="8701677" y="7182840"/>
                </a:lnTo>
                <a:lnTo>
                  <a:pt x="0" y="71828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644361" y="2501961"/>
            <a:ext cx="6999277" cy="76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04"/>
              </a:lnSpc>
            </a:pPr>
            <a:r>
              <a:rPr lang="en-US" sz="5225" spc="-564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PRÓXIMOS PASOS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11487" y="7280881"/>
            <a:ext cx="2585133" cy="26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7"/>
              </a:lnSpc>
            </a:pPr>
            <a:r>
              <a:rPr lang="en-US" sz="1776" spc="-191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🔔 TIEMPO REAL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76037" y="7280881"/>
            <a:ext cx="2585133" cy="26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7"/>
              </a:lnSpc>
            </a:pPr>
            <a:r>
              <a:rPr lang="en-US" sz="1776" spc="-191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📱 APP MÓVIL PWA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40588" y="7280881"/>
            <a:ext cx="2585133" cy="26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7"/>
              </a:lnSpc>
            </a:pPr>
            <a:r>
              <a:rPr lang="en-US" sz="1776" spc="-19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🏆 GAMIFICACIÓN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42884" y="7280881"/>
            <a:ext cx="2585133" cy="26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07"/>
              </a:lnSpc>
            </a:pPr>
            <a:r>
              <a:rPr lang="en-US" sz="1776" spc="-191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Mokoto"/>
                <a:ea typeface="Mokoto"/>
                <a:cs typeface="Mokoto"/>
                <a:sym typeface="Mokoto"/>
              </a:rPr>
              <a:t>🌐 MULTI-IDIOMA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60646" y="7733470"/>
            <a:ext cx="2486813" cy="7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8"/>
              </a:lnSpc>
              <a:spcBef>
                <a:spcPct val="0"/>
              </a:spcBef>
            </a:pPr>
            <a:r>
              <a:rPr lang="en-US" sz="1399" u="none" strike="noStrike">
                <a:gradFill>
                  <a:gsLst>
                    <a:gs pos="0">
                      <a:srgbClr val="FFDE59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Notificaciones en tiempo real con WebSockets y alertas push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84895" y="7733470"/>
            <a:ext cx="2486813" cy="7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8"/>
              </a:lnSpc>
              <a:spcBef>
                <a:spcPct val="0"/>
              </a:spcBef>
            </a:pPr>
            <a:r>
              <a:rPr lang="en-US" sz="1399" u="none" strike="noStrik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App móvil PWA con experiencia nativa y acceso offline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09143" y="7733470"/>
            <a:ext cx="2486813" cy="7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8"/>
              </a:lnSpc>
              <a:spcBef>
                <a:spcPct val="0"/>
              </a:spcBef>
            </a:pPr>
            <a:r>
              <a:rPr lang="en-US" sz="1399" u="none" strike="noStrik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Gamificación avanzada e integración con APIs de Federación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51741" y="7733470"/>
            <a:ext cx="2486813" cy="7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8"/>
              </a:lnSpc>
              <a:spcBef>
                <a:spcPct val="0"/>
              </a:spcBef>
            </a:pPr>
            <a:r>
              <a:rPr lang="en-US" sz="1399" u="none" strike="noStrike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Tomorrow"/>
                <a:ea typeface="Tomorrow"/>
                <a:cs typeface="Tomorrow"/>
                <a:sym typeface="Tomorrow"/>
              </a:rPr>
              <a:t>Internacionalización, roles avanzados y permisos granulares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032425" y="7990039"/>
            <a:ext cx="6281646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5"/>
              </a:lnSpc>
              <a:spcBef>
                <a:spcPct val="0"/>
              </a:spcBef>
            </a:pPr>
            <a:r>
              <a:rPr lang="en-US" sz="2454" u="sng">
                <a:solidFill>
                  <a:srgbClr val="FF914D"/>
                </a:solidFill>
                <a:latin typeface="Poppins"/>
                <a:ea typeface="Poppins"/>
                <a:cs typeface="Poppins"/>
                <a:sym typeface="Poppins"/>
                <a:hlinkClick r:id="rId2" tooltip="mailto:Ruben829@msn.com"/>
              </a:rPr>
              <a:t>Ruben829@msn.com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61963" y="5067300"/>
            <a:ext cx="9717162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Ruben Rebollo Rua — Master en Desarrollo de IA—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12906" y="3586381"/>
            <a:ext cx="8780463" cy="1112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32"/>
              </a:lnSpc>
            </a:pPr>
            <a:r>
              <a:rPr lang="en-US" sz="7639" spc="-825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GRACIAS</a:t>
            </a:r>
          </a:p>
        </p:txBody>
      </p:sp>
      <p:sp>
        <p:nvSpPr>
          <p:cNvPr id="5" name="Freeform 5"/>
          <p:cNvSpPr/>
          <p:nvPr/>
        </p:nvSpPr>
        <p:spPr>
          <a:xfrm>
            <a:off x="-3161781" y="-3255506"/>
            <a:ext cx="12533721" cy="9322133"/>
          </a:xfrm>
          <a:custGeom>
            <a:avLst/>
            <a:gdLst/>
            <a:ahLst/>
            <a:cxnLst/>
            <a:rect l="l" t="t" r="r" b="b"/>
            <a:pathLst>
              <a:path w="12533721" h="9322133">
                <a:moveTo>
                  <a:pt x="0" y="0"/>
                </a:moveTo>
                <a:lnTo>
                  <a:pt x="12533721" y="0"/>
                </a:lnTo>
                <a:lnTo>
                  <a:pt x="12533721" y="9322133"/>
                </a:lnTo>
                <a:lnTo>
                  <a:pt x="0" y="9322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52188" y="7322985"/>
            <a:ext cx="2675174" cy="2675174"/>
          </a:xfrm>
          <a:custGeom>
            <a:avLst/>
            <a:gdLst/>
            <a:ahLst/>
            <a:cxnLst/>
            <a:rect l="l" t="t" r="r" b="b"/>
            <a:pathLst>
              <a:path w="2675174" h="2675174">
                <a:moveTo>
                  <a:pt x="0" y="0"/>
                </a:moveTo>
                <a:lnTo>
                  <a:pt x="2675173" y="0"/>
                </a:lnTo>
                <a:lnTo>
                  <a:pt x="2675173" y="2675174"/>
                </a:lnTo>
                <a:lnTo>
                  <a:pt x="0" y="2675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63896" y="6414020"/>
            <a:ext cx="1887379" cy="26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7"/>
              </a:lnSpc>
              <a:spcBef>
                <a:spcPct val="0"/>
              </a:spcBef>
            </a:pPr>
            <a:r>
              <a:rPr lang="en-US" sz="1776" spc="-191">
                <a:solidFill>
                  <a:srgbClr val="7ED957"/>
                </a:solidFill>
                <a:latin typeface="Mokoto"/>
                <a:ea typeface="Mokoto"/>
                <a:cs typeface="Mokoto"/>
                <a:sym typeface="Mokoto"/>
              </a:rPr>
              <a:t> PRODUCCION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77128" y="7247034"/>
            <a:ext cx="1169670" cy="26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7"/>
              </a:lnSpc>
              <a:spcBef>
                <a:spcPct val="0"/>
              </a:spcBef>
            </a:pPr>
            <a:r>
              <a:rPr lang="en-US" sz="1776" spc="-191">
                <a:solidFill>
                  <a:srgbClr val="5CE1E6"/>
                </a:solidFill>
                <a:latin typeface="Mokoto"/>
                <a:ea typeface="Mokoto"/>
                <a:cs typeface="Mokoto"/>
                <a:sym typeface="Mokoto"/>
              </a:rPr>
              <a:t> GITHUB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63896" y="8080048"/>
            <a:ext cx="1024731" cy="26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7"/>
              </a:lnSpc>
              <a:spcBef>
                <a:spcPct val="0"/>
              </a:spcBef>
            </a:pPr>
            <a:r>
              <a:rPr lang="en-US" sz="1776" spc="-191">
                <a:solidFill>
                  <a:srgbClr val="FF914D"/>
                </a:solidFill>
                <a:latin typeface="Mokoto"/>
                <a:ea typeface="Mokoto"/>
                <a:cs typeface="Mokoto"/>
                <a:sym typeface="Mokoto"/>
              </a:rPr>
              <a:t> EMAIL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32425" y="7163289"/>
            <a:ext cx="7221274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5"/>
              </a:lnSpc>
              <a:spcBef>
                <a:spcPct val="0"/>
              </a:spcBef>
            </a:pPr>
            <a:r>
              <a:rPr lang="en-US" sz="2454" u="sng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rubenet84/padel-scouter"/>
              </a:rPr>
              <a:t>https://github.com/rubenet84/padel-scouter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50945" y="6336539"/>
            <a:ext cx="7906420" cy="44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35"/>
              </a:lnSpc>
              <a:spcBef>
                <a:spcPct val="0"/>
              </a:spcBef>
            </a:pPr>
            <a:r>
              <a:rPr lang="en-US" sz="2454" u="sng">
                <a:solidFill>
                  <a:srgbClr val="C1FF72"/>
                </a:solidFill>
                <a:latin typeface="Poppins"/>
                <a:ea typeface="Poppins"/>
                <a:cs typeface="Poppins"/>
                <a:sym typeface="Poppins"/>
                <a:hlinkClick r:id="rId6" tooltip="https://padel-scouter-production.up.railway.app"/>
              </a:rPr>
              <a:t>https://padel-scouter-production.up.railway.app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1175</Words>
  <Application>Microsoft Office PowerPoint</Application>
  <PresentationFormat>Personalizado</PresentationFormat>
  <Paragraphs>274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Poppins Medium</vt:lpstr>
      <vt:lpstr>Tomorrow</vt:lpstr>
      <vt:lpstr>Poppins</vt:lpstr>
      <vt:lpstr>Mokoto</vt:lpstr>
      <vt:lpstr>Tomorrow Bold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Padel Scouter: Análisis IA para Pádel</dc:title>
  <cp:lastModifiedBy>Ruben Rebollo Rua</cp:lastModifiedBy>
  <cp:revision>2</cp:revision>
  <dcterms:created xsi:type="dcterms:W3CDTF">2006-08-16T00:00:00Z</dcterms:created>
  <dcterms:modified xsi:type="dcterms:W3CDTF">2026-07-27T17:21:46Z</dcterms:modified>
  <dc:identifier>DAHQUDY3AsY</dc:identifier>
</cp:coreProperties>
</file>